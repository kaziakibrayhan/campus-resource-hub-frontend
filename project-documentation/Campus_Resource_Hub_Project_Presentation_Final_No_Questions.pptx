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acbd4ac66b40f4" /><Relationship Type="http://schemas.openxmlformats.org/officeDocument/2006/relationships/extended-properties" Target="/docProps/app.xml" Id="Raf9f88b869ae43f0" /><Relationship Type="http://schemas.openxmlformats.org/officeDocument/2006/relationships/officeDocument" Target="/ppt/presentation.xml" Id="R0d71ec2af4094f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4796d7ec9849ad"/>
  </p:sldMasterIdLst>
  <p:notesMasterIdLst>
    <p:notesMasterId xmlns:r="http://schemas.openxmlformats.org/officeDocument/2006/relationships" r:id="R8d870b5ea09440f6"/>
  </p:notesMasterIdLst>
  <p:sldIdLst>
    <p:sldId xmlns:r="http://schemas.openxmlformats.org/officeDocument/2006/relationships" id="256" r:id="R13cacb88e0154934"/>
    <p:sldId xmlns:r="http://schemas.openxmlformats.org/officeDocument/2006/relationships" id="257" r:id="R1df83ce4ecd746d9"/>
    <p:sldId xmlns:r="http://schemas.openxmlformats.org/officeDocument/2006/relationships" id="258" r:id="R5f14f9b4161642db"/>
    <p:sldId xmlns:r="http://schemas.openxmlformats.org/officeDocument/2006/relationships" id="259" r:id="R4da209f5c0b84cc7"/>
    <p:sldId xmlns:r="http://schemas.openxmlformats.org/officeDocument/2006/relationships" id="260" r:id="R21d56268e5624ed3"/>
    <p:sldId xmlns:r="http://schemas.openxmlformats.org/officeDocument/2006/relationships" id="261" r:id="R9f12162dfa4846a9"/>
    <p:sldId xmlns:r="http://schemas.openxmlformats.org/officeDocument/2006/relationships" id="262" r:id="R91943c9fda304cca"/>
    <p:sldId xmlns:r="http://schemas.openxmlformats.org/officeDocument/2006/relationships" id="263" r:id="Rcbc27e85c9a348a4"/>
    <p:sldId xmlns:r="http://schemas.openxmlformats.org/officeDocument/2006/relationships" id="264" r:id="Ra252f549272c4546"/>
    <p:sldId xmlns:r="http://schemas.openxmlformats.org/officeDocument/2006/relationships" id="265" r:id="R9543500c384d4075"/>
    <p:sldId xmlns:r="http://schemas.openxmlformats.org/officeDocument/2006/relationships" id="266" r:id="R474c59d473ad485a"/>
    <p:sldId xmlns:r="http://schemas.openxmlformats.org/officeDocument/2006/relationships" id="267" r:id="R9fd1c7db79ac4e46"/>
    <p:sldId xmlns:r="http://schemas.openxmlformats.org/officeDocument/2006/relationships" id="268" r:id="R82f3dd14e4534c95"/>
    <p:sldId xmlns:r="http://schemas.openxmlformats.org/officeDocument/2006/relationships" id="269" r:id="Rf6abafad30eb4c3a"/>
    <p:sldId xmlns:r="http://schemas.openxmlformats.org/officeDocument/2006/relationships" id="270" r:id="R4e032e31dbda46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7ef2834d35432b" /><Relationship Type="http://schemas.openxmlformats.org/officeDocument/2006/relationships/slideMaster" Target="/ppt/slideMasters/slideMaster1.xml" Id="Rda4796d7ec9849ad" /><Relationship Type="http://schemas.openxmlformats.org/officeDocument/2006/relationships/notesMaster" Target="/ppt/notesMasters/notesMaster1.xml" Id="R8d870b5ea09440f6" /><Relationship Type="http://schemas.openxmlformats.org/officeDocument/2006/relationships/presProps" Target="/ppt/presProps.xml" Id="R5344d10de013471e" /><Relationship Type="http://schemas.openxmlformats.org/officeDocument/2006/relationships/tableStyles" Target="/ppt/tableStyles.xml" Id="Rcf5ffa454a7747af" /><Relationship Type="http://schemas.openxmlformats.org/officeDocument/2006/relationships/slide" Target="/ppt/slides/slide1.xml" Id="R13cacb88e0154934" /><Relationship Type="http://schemas.openxmlformats.org/officeDocument/2006/relationships/slide" Target="/ppt/slides/slide2.xml" Id="R1df83ce4ecd746d9" /><Relationship Type="http://schemas.openxmlformats.org/officeDocument/2006/relationships/slide" Target="/ppt/slides/slide3.xml" Id="R5f14f9b4161642db" /><Relationship Type="http://schemas.openxmlformats.org/officeDocument/2006/relationships/slide" Target="/ppt/slides/slide4.xml" Id="R4da209f5c0b84cc7" /><Relationship Type="http://schemas.openxmlformats.org/officeDocument/2006/relationships/slide" Target="/ppt/slides/slide5.xml" Id="R21d56268e5624ed3" /><Relationship Type="http://schemas.openxmlformats.org/officeDocument/2006/relationships/slide" Target="/ppt/slides/slide6.xml" Id="R9f12162dfa4846a9" /><Relationship Type="http://schemas.openxmlformats.org/officeDocument/2006/relationships/slide" Target="/ppt/slides/slide7.xml" Id="R91943c9fda304cca" /><Relationship Type="http://schemas.openxmlformats.org/officeDocument/2006/relationships/slide" Target="/ppt/slides/slide8.xml" Id="Rcbc27e85c9a348a4" /><Relationship Type="http://schemas.openxmlformats.org/officeDocument/2006/relationships/slide" Target="/ppt/slides/slide9.xml" Id="Ra252f549272c4546" /><Relationship Type="http://schemas.openxmlformats.org/officeDocument/2006/relationships/slide" Target="/ppt/slides/slide10.xml" Id="R9543500c384d4075" /><Relationship Type="http://schemas.openxmlformats.org/officeDocument/2006/relationships/slide" Target="/ppt/slides/slide11.xml" Id="R474c59d473ad485a" /><Relationship Type="http://schemas.openxmlformats.org/officeDocument/2006/relationships/slide" Target="/ppt/slides/slide12.xml" Id="R9fd1c7db79ac4e46" /><Relationship Type="http://schemas.openxmlformats.org/officeDocument/2006/relationships/slide" Target="/ppt/slides/slide13.xml" Id="R82f3dd14e4534c95" /><Relationship Type="http://schemas.openxmlformats.org/officeDocument/2006/relationships/slide" Target="/ppt/slides/slide14.xml" Id="Rf6abafad30eb4c3a" /><Relationship Type="http://schemas.openxmlformats.org/officeDocument/2006/relationships/slide" Target="/ppt/slides/slide15.xml" Id="R4e032e31dbda46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8ba501a83d43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57a9808ea164c7e" /><Relationship Type="http://schemas.openxmlformats.org/officeDocument/2006/relationships/notesMaster" Target="/ppt/notesMasters/notesMaster1.xml" Id="R3862a42f933e4d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1945c198294d02" /><Relationship Type="http://schemas.openxmlformats.org/officeDocument/2006/relationships/notesMaster" Target="/ppt/notesMasters/notesMaster1.xml" Id="R76b6b219ab9244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44c520edfb34502" /><Relationship Type="http://schemas.openxmlformats.org/officeDocument/2006/relationships/notesMaster" Target="/ppt/notesMasters/notesMaster1.xml" Id="R611786130edd43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a79728e3ac45b1" /><Relationship Type="http://schemas.openxmlformats.org/officeDocument/2006/relationships/notesMaster" Target="/ppt/notesMasters/notesMaster1.xml" Id="R34184da4906f4d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7cbe1bd6d424c94" /><Relationship Type="http://schemas.openxmlformats.org/officeDocument/2006/relationships/notesMaster" Target="/ppt/notesMasters/notesMaster1.xml" Id="R7a17a59e655b4d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7f2c028bff41cd" /><Relationship Type="http://schemas.openxmlformats.org/officeDocument/2006/relationships/notesMaster" Target="/ppt/notesMasters/notesMaster1.xml" Id="Rea5856da83fb4e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5df66662b04670" /><Relationship Type="http://schemas.openxmlformats.org/officeDocument/2006/relationships/notesMaster" Target="/ppt/notesMasters/notesMaster1.xml" Id="Rbc44dfebcbdd4d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0434d9a4b3494f" /><Relationship Type="http://schemas.openxmlformats.org/officeDocument/2006/relationships/notesMaster" Target="/ppt/notesMasters/notesMaster1.xml" Id="R8febbe0ba78943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7ceb77a940450f" /><Relationship Type="http://schemas.openxmlformats.org/officeDocument/2006/relationships/notesMaster" Target="/ppt/notesMasters/notesMaster1.xml" Id="Rd07e5c7f82064e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9ce8a51a75d425c" /><Relationship Type="http://schemas.openxmlformats.org/officeDocument/2006/relationships/notesMaster" Target="/ppt/notesMasters/notesMaster1.xml" Id="Ra5c235285c274b7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dce884781d42be" /><Relationship Type="http://schemas.openxmlformats.org/officeDocument/2006/relationships/notesMaster" Target="/ppt/notesMasters/notesMaster1.xml" Id="R612050c8391b4be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3023a13356446d" /><Relationship Type="http://schemas.openxmlformats.org/officeDocument/2006/relationships/notesMaster" Target="/ppt/notesMasters/notesMaster1.xml" Id="Re6a4db864fe645b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7beaf79754481c" /><Relationship Type="http://schemas.openxmlformats.org/officeDocument/2006/relationships/notesMaster" Target="/ppt/notesMasters/notesMaster1.xml" Id="R281f936ebdff4c7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29be82df5254773" /><Relationship Type="http://schemas.openxmlformats.org/officeDocument/2006/relationships/notesMaster" Target="/ppt/notesMasters/notesMaster1.xml" Id="R3fee50786d9343a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3a1c7cb837e43a9" /><Relationship Type="http://schemas.openxmlformats.org/officeDocument/2006/relationships/notesMaster" Target="/ppt/notesMasters/notesMaster1.xml" Id="R41a391b859fa4b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cue: Introduce the project title, university context, and the main idea in one sentence.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/Users/bayshorecommunication/Desktop/Office/crh/campus-resource-hub-frontend/project-documentation/report/main.tex</a:t>
            </a:r>
          </a:p>
          <a:p xmlns:a="http://schemas.openxmlformats.org/drawingml/2006/main">
            <a:r>
              <a:t>- /Users/bayshorecommunication/Desktop/Office/crh/campus-resource-hub-frontend/project-documentation/report/main.pdf</a:t>
            </a:r>
          </a:p>
          <a:p xmlns:a="http://schemas.openxmlformats.org/drawingml/2006/main">
            <a:r>
              <a:t>- /Users/bayshorecommunication/Desktop/Office/crh/campus-resource-hub-frontend/project-documentation/report/figures/university-logo.png</a:t>
            </a:r>
          </a:p>
          <a:p xmlns:a="http://schemas.openxmlformats.org/drawingml/2006/main">
            <a:r>
              <a:t>- /Users/bayshorecommunication/Desktop/Office/crh/campus-resource-hub-frontend/public/favicon.svg</a:t>
            </a:r>
          </a:p>
          <a:p xmlns:a="http://schemas.openxmlformats.org/drawingml/2006/main">
            <a:r>
              <a:t>- https://slidesgo.com/theme/cellular-respiration-and-its-impact-on-health-research-thesis-defense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cue: Introduce all three team members and the supervisor, then state the shared project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/Users/bayshorecommunication/Desktop/Office/crh/campus-resource-hub-frontend/project-documentation/report/main.tex</a:t>
            </a:r>
          </a:p>
          <a:p xmlns:a="http://schemas.openxmlformats.org/drawingml/2006/main">
            <a:r>
              <a:t>- /Users/bayshorecommunication/Desktop/Office/crh/campus-resource-hub-frontend/project-documentation/report/main.pdf</a:t>
            </a:r>
          </a:p>
          <a:p xmlns:a="http://schemas.openxmlformats.org/drawingml/2006/main">
            <a:r>
              <a:t>- https://slidesgo.com/theme/cellular-respiration-and-its-impact-on-health-research-thesis-defense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cue: Explain the everyday campus problem first, then point to the role-aware dashboard as the proposed answer. Treat the screenshot as a prototype, not adoption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/Users/bayshorecommunication/Desktop/Office/crh/campus-resource-hub-frontend/project-documentation/report/main.tex</a:t>
            </a:r>
          </a:p>
          <a:p xmlns:a="http://schemas.openxmlformats.org/drawingml/2006/main">
            <a:r>
              <a:t>- /Users/bayshorecommunication/Desktop/Office/crh/campus-resource-hub-frontend/project-documentation/report/figures/dashboard.png</a:t>
            </a:r>
          </a:p>
          <a:p xmlns:a="http://schemas.openxmlformats.org/drawingml/2006/main">
            <a:r>
              <a:t>- https://slidesgo.com/theme/cellular-respiration-and-its-impact-on-health-research-thesis-defense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cue: Walk from verified access to the role-aware dashboard, then explain the common create-scan-review-publish pattern and live updates.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/Users/bayshorecommunication/Desktop/Office/crh/campus-resource-hub-frontend/project-documentation/report/main.tex</a:t>
            </a:r>
          </a:p>
          <a:p xmlns:a="http://schemas.openxmlformats.org/drawingml/2006/main">
            <a:r>
              <a:t>- /Users/bayshorecommunication/Desktop/Office/crh/campus-resource-hub-frontend/project-documentation/diagrams/system-workflow-documentation.txt</a:t>
            </a:r>
          </a:p>
          <a:p xmlns:a="http://schemas.openxmlformats.org/drawingml/2006/main">
            <a:r>
              <a:t>- /Users/bayshorecommunication/Desktop/Office/crh/campus-resource-hub-frontend/project-documentation/report/figures/workflow-diagram.pdf</a:t>
            </a:r>
          </a:p>
          <a:p xmlns:a="http://schemas.openxmlformats.org/drawingml/2006/main">
            <a:r>
              <a:t>- https://slidesgo.com/theme/cellular-respiration-and-its-impact-on-health-research-thesis-defense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cue: Explain that OTP confirms e-mail ownership, JWT handles stateless sessions, and the same identity receives different capabilities based on role.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/Users/bayshorecommunication/Desktop/Office/crh/campus-resource-hub-frontend/project-documentation/report/main.tex</a:t>
            </a:r>
          </a:p>
          <a:p xmlns:a="http://schemas.openxmlformats.org/drawingml/2006/main">
            <a:r>
              <a:t>- /Users/bayshorecommunication/Desktop/Office/crh/campus-resource-hub-frontend/project-documentation/report/figures/auth-login.png</a:t>
            </a:r>
          </a:p>
          <a:p xmlns:a="http://schemas.openxmlformats.org/drawingml/2006/main">
            <a:r>
              <a:t>- https://slidesgo.com/theme/cellular-respiration-and-its-impact-on-health-research-thesis-defense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cue: Show the full resource journey: academic metadata, cloud storage, extraction, AI safety scan, human review when needed, then browsing and indexing.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/Users/bayshorecommunication/Desktop/Office/crh/campus-resource-hub-frontend/project-documentation/report/main.tex</a:t>
            </a:r>
          </a:p>
          <a:p xmlns:a="http://schemas.openxmlformats.org/drawingml/2006/main">
            <a:r>
              <a:t>- /Users/bayshorecommunication/Desktop/Office/crh/campus-resource-hub-frontend/project-documentation/report/figures/resource-upload.png</a:t>
            </a:r>
          </a:p>
          <a:p xmlns:a="http://schemas.openxmlformats.org/drawingml/2006/main">
            <a:r>
              <a:t>- /Users/bayshorecommunication/Desktop/Office/crh/campus-resource-hub-frontend/project-documentation/report/figures/resource-browse.png</a:t>
            </a:r>
          </a:p>
          <a:p xmlns:a="http://schemas.openxmlformats.org/drawingml/2006/main">
            <a:r>
              <a:t>- https://slidesgo.com/theme/cellular-respiration-and-its-impact-on-health-research-thesis-defense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cue: Use the announcement screen as a realistic example, then explain how events and clubs use structured participation rules inside the same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/Users/bayshorecommunication/Desktop/Office/crh/campus-resource-hub-frontend/project-documentation/report/main.tex</a:t>
            </a:r>
          </a:p>
          <a:p xmlns:a="http://schemas.openxmlformats.org/drawingml/2006/main">
            <a:r>
              <a:t>- /Users/bayshorecommunication/Desktop/Office/crh/campus-resource-hub-frontend/project-documentation/report/figures/announcements.png</a:t>
            </a:r>
          </a:p>
          <a:p xmlns:a="http://schemas.openxmlformats.org/drawingml/2006/main">
            <a:r>
              <a:t>- https://slidesgo.com/theme/cellular-respiration-and-its-impact-on-health-research-thesis-defense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cue: Emphasize the privacy choice: contact information is not public and appears only after an approved claim, while the post itself still goes through moderation.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/Users/bayshorecommunication/Desktop/Office/crh/campus-resource-hub-frontend/project-documentation/report/main.tex</a:t>
            </a:r>
          </a:p>
          <a:p xmlns:a="http://schemas.openxmlformats.org/drawingml/2006/main">
            <a:r>
              <a:t>- /Users/bayshorecommunication/Desktop/Office/crh/campus-resource-hub-frontend/project-documentation/report/figures/lostfound.png</a:t>
            </a:r>
          </a:p>
          <a:p xmlns:a="http://schemas.openxmlformats.org/drawingml/2006/main">
            <a:r>
              <a:t>- https://slidesgo.com/theme/cellular-respiration-and-its-impact-on-health-research-thesis-defense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cue: Explain how Socket.io supports direct and group conversations, delivery/seen receipts, and live notifications, while server-side membership checks protect every chat request.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/Users/bayshorecommunication/Desktop/Office/crh/campus-resource-hub-frontend/project-documentation/report/main.tex</a:t>
            </a:r>
          </a:p>
          <a:p xmlns:a="http://schemas.openxmlformats.org/drawingml/2006/main">
            <a:r>
              <a:t>- /Users/bayshorecommunication/Desktop/Office/crh/campus-resource-hub-frontend/project-documentation/report/figures/chat.png</a:t>
            </a:r>
          </a:p>
          <a:p xmlns:a="http://schemas.openxmlformats.org/drawingml/2006/main">
            <a:r>
              <a:t>- https://slidesgo.com/theme/cellular-respiration-and-its-impact-on-health-research-thesis-defense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cue: Give a simple example of semantic search, then explain the four-stage retrieval flow and the visibility check that prevents unpublished content from leaking.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/Users/bayshorecommunication/Desktop/Office/crh/campus-resource-hub-frontend/project-documentation/report/main.tex</a:t>
            </a:r>
          </a:p>
          <a:p xmlns:a="http://schemas.openxmlformats.org/drawingml/2006/main">
            <a:r>
              <a:t>- https://slidesgo.com/theme/cellular-respiration-and-its-impact-on-health-research-thesis-defense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cue: Explain the three independently deployable tiers and how external e-mail, AI and storage services keep the application server focused on API and real-time logic.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/Users/bayshorecommunication/Desktop/Office/crh/campus-resource-hub-frontend/project-documentation/report/main.tex</a:t>
            </a:r>
          </a:p>
          <a:p xmlns:a="http://schemas.openxmlformats.org/drawingml/2006/main">
            <a:r>
              <a:t>- /Users/bayshorecommunication/Desktop/Office/crh/campus-resource-hub-frontend/package.json</a:t>
            </a:r>
          </a:p>
          <a:p xmlns:a="http://schemas.openxmlformats.org/drawingml/2006/main">
            <a:r>
              <a:t>- https://slidesgo.com/theme/cellular-respiration-and-its-impact-on-health-research-thesis-defense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cue: Point to User as the central authorization record, then show how resource chunks and embeddings extend the normal campus-service schema for AI retrieval.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/Users/bayshorecommunication/Desktop/Office/crh/campus-resource-hub-frontend/project-documentation/report/main.tex</a:t>
            </a:r>
          </a:p>
          <a:p xmlns:a="http://schemas.openxmlformats.org/drawingml/2006/main">
            <a:r>
              <a:t>- /Users/bayshorecommunication/Desktop/Office/crh/campus-resource-hub-frontend/project-documentation/report/figures/erd-diagram.pdf</a:t>
            </a:r>
          </a:p>
          <a:p xmlns:a="http://schemas.openxmlformats.org/drawingml/2006/main">
            <a:r>
              <a:t>- https://slidesgo.com/theme/cellular-respiration-and-its-impact-on-health-research-thesis-defense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cue: Present these as reported verification results, not live production adoption metrics. Mention that the build, indexing and authorization checks all completed successfully.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/Users/bayshorecommunication/Desktop/Office/crh/campus-resource-hub-frontend/project-documentation/report/main.tex</a:t>
            </a:r>
          </a:p>
          <a:p xmlns:a="http://schemas.openxmlformats.org/drawingml/2006/main">
            <a:r>
              <a:t>- https://slidesgo.com/theme/cellular-respiration-and-its-impact-on-health-research-thesis-defense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cue: Close by positioning the current build as department-scale, state the free-tier capacity and cost, and show a realistic path to campus-wide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/Users/bayshorecommunication/Desktop/Office/crh/campus-resource-hub-frontend/project-documentation/report/main.tex</a:t>
            </a:r>
          </a:p>
          <a:p xmlns:a="http://schemas.openxmlformats.org/drawingml/2006/main">
            <a:r>
              <a:t>- /Users/bayshorecommunication/Desktop/Office/crh/campus-resource-hub-frontend/project-documentation/diagrams/system-capacity-analysis.txt</a:t>
            </a:r>
          </a:p>
          <a:p xmlns:a="http://schemas.openxmlformats.org/drawingml/2006/main">
            <a:r>
              <a:t>- https://slidesgo.com/theme/cellular-respiration-and-its-impact-on-health-research-thesis-defense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cue: Thank the audience and invite questions about the project, implementation and next steps.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/Users/bayshorecommunication/Desktop/Office/crh/campus-resource-hub-frontend/project-documentation/report/main.tex</a:t>
            </a:r>
          </a:p>
          <a:p xmlns:a="http://schemas.openxmlformats.org/drawingml/2006/main">
            <a:r>
              <a:t>- /Users/bayshorecommunication/Desktop/Office/crh/campus-resource-hub-frontend/project-documentation/report/figures/university-logo.png</a:t>
            </a:r>
          </a:p>
          <a:p xmlns:a="http://schemas.openxmlformats.org/drawingml/2006/main">
            <a:r>
              <a:t>- /Users/bayshorecommunication/Desktop/Office/crh/campus-resource-hub-frontend/public/favicon.svg</a:t>
            </a:r>
          </a:p>
          <a:p xmlns:a="http://schemas.openxmlformats.org/drawingml/2006/main">
            <a:r>
              <a:t>- https://slidesgo.com/theme/cellular-respiration-and-its-impact-on-health-research-thesis-defense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533e8b831a4e6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c0158455b741bd" /><Relationship Type="http://schemas.openxmlformats.org/officeDocument/2006/relationships/slideLayout" Target="/ppt/slideLayouts/slideLayout1.xml" Id="Re6ad9f90416e44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ad9f90416e44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77ef02eb948fb" /><Relationship Type="http://schemas.openxmlformats.org/officeDocument/2006/relationships/image" Target="/ppt/media/image.png" Id="R61b8772c5a5b422d" /><Relationship Type="http://schemas.openxmlformats.org/officeDocument/2006/relationships/image" Target="/ppt/media/image2.png" Id="R626c5fcc181f4e9a" /><Relationship Type="http://schemas.openxmlformats.org/officeDocument/2006/relationships/notesSlide" Target="/ppt/notesSlides/notesSlide1.xml" Id="R85e9e3b8fa1d49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388250a724165" /><Relationship Type="http://schemas.openxmlformats.org/officeDocument/2006/relationships/notesSlide" Target="/ppt/notesSlides/notesSlide2.xml" Id="Ree34cb2df4ac4f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9b892e6f0b4e11" /><Relationship Type="http://schemas.openxmlformats.org/officeDocument/2006/relationships/image" Target="/ppt/media/image3.png" Id="R44f2509d551c47d3" /><Relationship Type="http://schemas.openxmlformats.org/officeDocument/2006/relationships/notesSlide" Target="/ppt/notesSlides/notesSlide3.xml" Id="Reb61af3e0c0c4c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d0fdb26e14edf" /><Relationship Type="http://schemas.openxmlformats.org/officeDocument/2006/relationships/image" Target="/ppt/media/image4.png" Id="Rd04619a6af984914" /><Relationship Type="http://schemas.openxmlformats.org/officeDocument/2006/relationships/notesSlide" Target="/ppt/notesSlides/notesSlide4.xml" Id="R59a78659f9ec4f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1d1f9b8164226" /><Relationship Type="http://schemas.openxmlformats.org/officeDocument/2006/relationships/image" Target="/ppt/media/image5.png" Id="R57536f87a4434f76" /><Relationship Type="http://schemas.openxmlformats.org/officeDocument/2006/relationships/notesSlide" Target="/ppt/notesSlides/notesSlide5.xml" Id="R68b7446e90f143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b62a009a2f4748" /><Relationship Type="http://schemas.openxmlformats.org/officeDocument/2006/relationships/image" Target="/ppt/media/image6.png" Id="R08c058a20a7e46cd" /><Relationship Type="http://schemas.openxmlformats.org/officeDocument/2006/relationships/image" Target="/ppt/media/image7.png" Id="Refde15ffbd044b0c" /><Relationship Type="http://schemas.openxmlformats.org/officeDocument/2006/relationships/notesSlide" Target="/ppt/notesSlides/notesSlide6.xml" Id="R74d2a3fa112141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695beb6d8449f" /><Relationship Type="http://schemas.openxmlformats.org/officeDocument/2006/relationships/image" Target="/ppt/media/image8.png" Id="R62b900e36a684d8a" /><Relationship Type="http://schemas.openxmlformats.org/officeDocument/2006/relationships/notesSlide" Target="/ppt/notesSlides/notesSlide7.xml" Id="R19d1ac1e567743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328e2bb02483d" /><Relationship Type="http://schemas.openxmlformats.org/officeDocument/2006/relationships/image" Target="/ppt/media/image9.png" Id="Rfe6fe34cb47a4134" /><Relationship Type="http://schemas.openxmlformats.org/officeDocument/2006/relationships/notesSlide" Target="/ppt/notesSlides/notesSlide8.xml" Id="R085926222d0b4d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c07dde357741ab" /><Relationship Type="http://schemas.openxmlformats.org/officeDocument/2006/relationships/image" Target="/ppt/media/image10.png" Id="Rcbfe6fabfdf04b39" /><Relationship Type="http://schemas.openxmlformats.org/officeDocument/2006/relationships/notesSlide" Target="/ppt/notesSlides/notesSlide9.xml" Id="Rc0c81fcbc6424e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9123af8354c1a" /><Relationship Type="http://schemas.openxmlformats.org/officeDocument/2006/relationships/notesSlide" Target="/ppt/notesSlides/notesSlide10.xml" Id="R69344c8f004f4a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f4f1869abb439c" /><Relationship Type="http://schemas.openxmlformats.org/officeDocument/2006/relationships/notesSlide" Target="/ppt/notesSlides/notesSlide11.xml" Id="Rf828ce21ae5d4a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4424189664ded" /><Relationship Type="http://schemas.openxmlformats.org/officeDocument/2006/relationships/image" Target="/ppt/media/image11.png" Id="Rce7becb7bed14f7f" /><Relationship Type="http://schemas.openxmlformats.org/officeDocument/2006/relationships/notesSlide" Target="/ppt/notesSlides/notesSlide12.xml" Id="R87714ede223c44e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80fe51cd849de" /><Relationship Type="http://schemas.openxmlformats.org/officeDocument/2006/relationships/notesSlide" Target="/ppt/notesSlides/notesSlide13.xml" Id="R51684d8da1094a9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e604f7dd724c64" /><Relationship Type="http://schemas.openxmlformats.org/officeDocument/2006/relationships/notesSlide" Target="/ppt/notesSlides/notesSlide14.xml" Id="Re089eb3956424de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3ec1f190246d0" /><Relationship Type="http://schemas.openxmlformats.org/officeDocument/2006/relationships/image" Target="/ppt/media/image12.png" Id="Rfcce332f159e4045" /><Relationship Type="http://schemas.openxmlformats.org/officeDocument/2006/relationships/image" Target="/ppt/media/image13.png" Id="Rcdce090bc7e145e9" /><Relationship Type="http://schemas.openxmlformats.org/officeDocument/2006/relationships/notesSlide" Target="/ppt/notesSlides/notesSlide15.xml" Id="Rbbcddd76862f44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22CFA4-32F5-4AAF-A235-067A50B2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11430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8C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20E527-C1F5-4BE0-9EE4-F182A27E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D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6A7B4-BD4A-4BE9-B714-5197E5B27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CFAFE3-C617-4D93-A4BA-9CAE9D8F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5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73E86-AAF8-4C4A-90E5-E8A71E510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95750"/>
            <a:ext cx="1981200" cy="2762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8C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CB562-2A4C-406F-ABC9-97F8B1401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334000"/>
            <a:ext cx="200025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D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207502-7C24-447B-A04D-F3FC52D3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10125"/>
            <a:ext cx="1504950" cy="1504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142BA-9B82-4FF2-AD66-9634B369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86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83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b8772c5a5b422d"/>
          <a:stretch xmlns:a="http://schemas.openxmlformats.org/drawingml/2006/main"/>
        </p:blipFill>
        <p:spPr>
          <a:xfrm xmlns:a="http://schemas.openxmlformats.org/drawingml/2006/main">
            <a:off x="10715625" y="327174"/>
            <a:ext cx="685800" cy="812502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F8961C-CF80-43D4-A34D-9726A7A5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rPr>
              <a:t>PROJECT PRESENTATION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56B2A9-00B6-4016-BC11-F479683D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19300"/>
            <a:ext cx="80010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4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54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rPr>
              <a:t>Campus Resource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4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54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rPr>
              <a:t>Hub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46847-71FF-4B9B-B324-F2B8CD07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704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defRPr>
            </a:pPr>
            <a:r>
              <a:rPr sz="2025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rPr>
              <a:t>A centralized web platform for academic resource sharing with AI-powered moderation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F4D879-145D-4EE2-BA83-91AF9494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57800"/>
            <a:ext cx="704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Department of Computer Science &amp; Engineering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Northern University Bangladesh  •  August 2026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6c5fcc181f4e9a"/>
          <a:stretch xmlns:a="http://schemas.openxmlformats.org/drawingml/2006/main"/>
        </p:blipFill>
        <p:spPr>
          <a:xfrm xmlns:a="http://schemas.openxmlformats.org/drawingml/2006/main">
            <a:off x="10287000" y="5286375"/>
            <a:ext cx="1066800" cy="1066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3922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8FEDE3-AAAF-4270-B4DC-379765AA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8C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48BC1-1237-4C24-B332-3D220AF3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0"/>
            <a:ext cx="990600" cy="1390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D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C7259-7741-4013-97F7-600ACA1B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5087C-BFA1-4923-AB7D-60F13C3B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04B34E-4453-4135-918E-EDF1AD80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98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7DBA5-2D5F-4B70-990A-C1E7EC91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410325"/>
            <a:ext cx="6858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C8045B-06C8-4DEA-A459-64876070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rPr>
              <a:t>CAMPUS RESOURCE 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E62331-05D8-4B3A-9DB8-BADAB160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28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23647-0F2F-4C9E-97FD-904B60C8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3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rPr>
              <a:t>Meet the student team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613D49-4CD8-467A-A951-8BB8D722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18CA5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18CA5"/>
                </a:solidFill>
                <a:latin typeface="Avenir Next"/>
                <a:ea typeface="Avenir Next"/>
                <a:cs typeface="Avenir Next"/>
              </a:rPr>
              <a:t>PROJECT GOAL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D6CDCB-FC7D-4424-9DEF-48D50B47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4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4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rPr>
              <a:t>Build one secure, searchable and real-time platform for academic resources and daily campus coordination.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FFD478-6F4C-4961-B0F5-B9CF5E87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 i="0">
                <a:solidFill>
                  <a:srgbClr val="118CA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300" b="1" i="0">
                <a:solidFill>
                  <a:srgbClr val="118CA5"/>
                </a:solidFill>
                <a:latin typeface="Arial Rounded MT Bold"/>
                <a:ea typeface="Arial Rounded MT Bold"/>
                <a:cs typeface="Arial Rounded MT Bold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63B8E4-547D-4435-972B-4853703E6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671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25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rPr>
              <a:t>Akib Rayhan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CFEE07-8EE6-417B-84E1-19E40BD9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ID 42230200858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A7D49D-A7D2-4CA6-BDC2-2C9C8CEE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5275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8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9A8CEB-999F-4F5F-841B-BB7D83C5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4800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 i="0">
                <a:solidFill>
                  <a:srgbClr val="118CA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300" b="1" i="0">
                <a:solidFill>
                  <a:srgbClr val="118CA5"/>
                </a:solidFill>
                <a:latin typeface="Arial Rounded MT Bold"/>
                <a:ea typeface="Arial Rounded MT Bold"/>
                <a:cs typeface="Arial Rounded MT Bold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F98461-F7B1-4C89-BD5D-C35576FA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671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25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rPr>
              <a:t>Rakibul Hasan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70A844-E567-41EA-9772-059337F4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1910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ID 42230200859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B9BA7E-A10D-43DC-91C9-A7F80834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5275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8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AB42DA-55B9-4FFA-AC38-5A198E93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48000"/>
            <a:ext cx="95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 i="0">
                <a:solidFill>
                  <a:srgbClr val="118CA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300" b="1" i="0">
                <a:solidFill>
                  <a:srgbClr val="118CA5"/>
                </a:solidFill>
                <a:latin typeface="Arial Rounded MT Bold"/>
                <a:ea typeface="Arial Rounded MT Bold"/>
                <a:cs typeface="Arial Rounded MT Bold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ED8068-57B3-4E2E-AA91-DA2082FD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671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25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rPr>
              <a:t>Mahdi Hasan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128FA6-DB3F-45EF-AD2C-0B0A2456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910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ID 42230200717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DF8128-08F3-40CF-B106-CB2F5B26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06680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8F9AAD-9095-4AF0-B4EE-2893E308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29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rPr>
              <a:t>Supervisor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BC4319-C1B2-45A7-A36E-D31ED02B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2452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03E55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103E55"/>
                </a:solidFill>
                <a:latin typeface="Avenir Next"/>
                <a:ea typeface="Avenir Next"/>
                <a:cs typeface="Avenir Next"/>
              </a:rPr>
              <a:t>Tanmoy Mazumder, Lecturer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FD71C2-EC15-41E6-887B-E5FBDAED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626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650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Department of Computer Science &amp; Engineering</a:t>
            </a:r>
          </a:p>
        </p:txBody>
      </p:sp>
    </p:spTree>
    <p:extLst>
      <p:ext uri="{BB962C8B-B14F-4D97-AF65-F5344CB8AC3E}">
        <p14:creationId xmlns:p14="http://schemas.microsoft.com/office/powerpoint/2010/main" val="9553721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3658F7-AFC8-41DE-AF32-CE5266CCE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8C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93E55-4790-4BE6-9EDE-055A29ED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0"/>
            <a:ext cx="990600" cy="1390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D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522DB-98BD-424A-AD3E-ADBFEF73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05B1C9-81F6-4C36-906B-B88F7801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07B1B-6270-4672-8C9D-2357DC00C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98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E9E3F-CF89-41E3-9725-0252BB69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410325"/>
            <a:ext cx="6858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7C8C7-5B60-4EC3-A651-E0E66EA8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rPr>
              <a:t>CAMPUS RESOURCE 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682821-8AFF-4CE5-AB20-B254D069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28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C89746-DEEE-401E-9ED2-ED9B328E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3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rPr>
              <a:t>Campus information is useful—but scattered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49C71F-100A-4F05-B615-3E3227E8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3905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12000"/>
              </a:lnSpc>
              <a:spcAft>
                <a:spcPts val="12"/>
              </a:spcAft>
              <a:buNone/>
              <a:defRPr sz="1725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rPr>
              <a:t>Study files</a:t>
            </a:r>
            <a:r>
              <a:rPr sz="1725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rPr>
              <a:t> disappear inside chat groups.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spcAft>
                <a:spcPts val="12"/>
              </a:spcAft>
              <a:buNone/>
              <a:defRPr sz="1725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rPr>
              <a:t>Events and club updates</a:t>
            </a:r>
            <a:r>
              <a:rPr sz="1725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rPr>
              <a:t> reach only part of the campus.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spcAft>
                <a:spcPts val="12"/>
              </a:spcAft>
              <a:buNone/>
              <a:defRPr sz="1725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rPr>
              <a:t>Lost items</a:t>
            </a:r>
            <a:r>
              <a:rPr sz="1725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rPr>
              <a:t> have no private claim-and-verify process.</a:t>
            </a:r>
          </a:p>
          <a:p xmlns:a="http://schemas.openxmlformats.org/drawingml/2006/main">
            <a:pPr marL="22" indent="-12" algn="l">
              <a:lnSpc>
                <a:spcPct val="112000"/>
              </a:lnSpc>
              <a:spcAft>
                <a:spcPts val="12"/>
              </a:spcAft>
              <a:buNone/>
              <a:defRPr sz="1725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rPr>
              <a:t>Shared content</a:t>
            </a:r>
            <a:r>
              <a:rPr sz="1725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rPr>
              <a:t> is unmoderated and difficult to search.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83647D-9899-4A59-8BBD-1FF61860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0A7189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100" b="1" i="0">
                <a:solidFill>
                  <a:srgbClr val="0A7189"/>
                </a:solidFill>
                <a:latin typeface="Arial Rounded MT Bold"/>
                <a:ea typeface="Arial Rounded MT Bold"/>
                <a:cs typeface="Arial Rounded MT Bold"/>
              </a:rPr>
              <a:t>CRH brings these workflows into one verified dashboard.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D0CF8B-620E-4B62-9BCD-4B1C3D2C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476375"/>
            <a:ext cx="6810375" cy="3762375"/>
          </a:xfrm>
          <a:prstGeom xmlns:a="http://schemas.openxmlformats.org/drawingml/2006/main" prst="roundRect">
            <a:avLst>
              <a:gd name="adj" fmla="val 4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3E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f2509d551c47d3"/>
          <a:srcRect xmlns:a="http://schemas.openxmlformats.org/drawingml/2006/main" l="350" t="0" r="3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05375" y="1524000"/>
            <a:ext cx="6715125" cy="3667125"/>
          </a:xfrm>
          <a:prstGeom xmlns:a="http://schemas.openxmlformats.org/drawingml/2006/main" prst="roundRect">
            <a:avLst>
              <a:gd name="adj" fmla="val 4156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F3EDF7-5A1B-401F-8CE8-3AABE464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334000"/>
            <a:ext cx="671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0" i="1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1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Prototype dashboard captured during project testing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CD43C1-50FB-4145-A689-4149A710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791200"/>
            <a:ext cx="6715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DB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4908F1-96B1-418B-A099-802FB96E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924550"/>
            <a:ext cx="6715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One place to discover, communicate and act—without depending on separate Messenger groups, e-mail threads or notice boards.</a:t>
            </a:r>
          </a:p>
        </p:txBody>
      </p:sp>
    </p:spTree>
    <p:extLst>
      <p:ext uri="{BB962C8B-B14F-4D97-AF65-F5344CB8AC3E}">
        <p14:creationId xmlns:p14="http://schemas.microsoft.com/office/powerpoint/2010/main" val="13515129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7967F-01E9-4899-9337-C093B2C9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8C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195CC6-3067-472D-A18F-0FF84BCC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0"/>
            <a:ext cx="990600" cy="1390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D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9AE37-65B2-45EC-94BA-0ADB212D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6E87A6-BFD7-412B-962D-D444A582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5C57C-3CD4-49C9-A6BD-04B330DC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98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2876A7-42E3-4DB9-87CA-58A7D6B2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410325"/>
            <a:ext cx="6858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C752DF-88AF-400B-A9E3-953213B7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rPr>
              <a:t>CAMPUS RESOURCE 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4114D4-4554-41D5-A39B-2789214F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28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3A0368-CFD7-4794-9AAD-49C0AD08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3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rPr>
              <a:t>Verified access connects every workflow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5E25C5-5603-42D6-AF46-2403421B2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3143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 i="0">
                <a:solidFill>
                  <a:srgbClr val="103E55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03E55"/>
                </a:solidFill>
                <a:latin typeface="Avenir Next"/>
                <a:ea typeface="Avenir Next"/>
                <a:cs typeface="Avenir Next"/>
              </a:rPr>
              <a:t>OTP verification and JWT login route every user to a role-aware dashboard.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4E9E42-5359-4E3E-A2ED-EF884AB6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3143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04000"/>
              </a:lnSpc>
              <a:spcAft>
                <a:spcPts val="12"/>
              </a:spcAft>
              <a:buNone/>
              <a:defRPr sz="15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Resources</a:t>
            </a:r>
            <a:r>
              <a:rPr sz="15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 follow fail-safe moderation.</a:t>
            </a:r>
          </a:p>
          <a:p xmlns:a="http://schemas.openxmlformats.org/drawingml/2006/main">
            <a:pPr marL="22" indent="-12" algn="l">
              <a:lnSpc>
                <a:spcPct val="104000"/>
              </a:lnSpc>
              <a:spcAft>
                <a:spcPts val="12"/>
              </a:spcAft>
              <a:buNone/>
              <a:defRPr sz="15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Campus services</a:t>
            </a:r>
            <a:r>
              <a:rPr sz="15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 enforce role and ownership rules.</a:t>
            </a:r>
          </a:p>
          <a:p xmlns:a="http://schemas.openxmlformats.org/drawingml/2006/main">
            <a:pPr marL="22" indent="-12" algn="l">
              <a:lnSpc>
                <a:spcPct val="104000"/>
              </a:lnSpc>
              <a:spcAft>
                <a:spcPts val="12"/>
              </a:spcAft>
              <a:buNone/>
              <a:defRPr sz="15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Notifications</a:t>
            </a:r>
            <a:r>
              <a:rPr sz="15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 update through Socket.io.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8C2411-B687-45C2-A38B-1D2EBF47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0"/>
            <a:ext cx="3143250" cy="9144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D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13191A-6A58-40A8-B9F5-AC241537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2800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rPr>
              <a:t>JWT, role, ownership and publication visibility are checked again on protected requests.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619a6af984914"/>
          <a:stretch xmlns:a="http://schemas.openxmlformats.org/drawingml/2006/main"/>
        </p:blipFill>
        <p:spPr>
          <a:xfrm xmlns:a="http://schemas.openxmlformats.org/drawingml/2006/main">
            <a:off x="4418057" y="1352550"/>
            <a:ext cx="6784886" cy="5000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2658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69A74B-A9C6-4C9D-BF96-0BB49635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8C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BE2E2C-6296-4F0F-BE9D-5FDB170E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0"/>
            <a:ext cx="990600" cy="1390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D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D1B790-3B0F-4156-BE82-1E42247C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19AFA5-BF9C-4855-AE4F-13EAC90D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42E79-EFB8-4B41-91A5-4BA38258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98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3F66B1-4509-4F47-AF59-9B50F409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410325"/>
            <a:ext cx="6858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6774D5-58A7-4B55-B16B-7E7B018C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rPr>
              <a:t>CAMPUS RESOURCE 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428BD-221B-496A-84B1-7C4D24FB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28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DC530-437E-4299-9C22-D2EB4F52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3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rPr>
              <a:t>Access depends on identity and 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594888-4A44-4806-9838-01C03D14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875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rPr>
              <a:t>Signup → e-mail OTP → account creation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875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rPr>
              <a:t>Login → signed JWT → role-aware dashboard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54EAB-F30F-4C55-AFAE-E61D60FC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952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8C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FBA736-455C-4466-A234-BBE6961E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025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rPr>
              <a:t>Student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F17794-BA10-4AC4-A72C-47363BD8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Browse, upload, RSVP, join clubs, chat, claim items and manage a profile.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B5755A-D786-4887-B77A-D1734787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952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E2C829-A8B4-47D4-89E4-B1A44F0D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5762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025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rPr>
              <a:t>Moderator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182395-666F-4A4C-AA27-D3C94CF1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Review content, create campus updates and manage community safety.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55A788-FB37-4085-9636-32A7B299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952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527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89FA0F-3479-4604-BB96-1F747EA7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530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025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rPr>
              <a:t>Admin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125AE0-1333-4923-9153-DAA12315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Manage roles and users, and view platform-wide controls.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A31291-3ED3-4AFE-9CCB-69077E62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333500"/>
            <a:ext cx="4667250" cy="4905375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3E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536f87a4434f76"/>
          <a:srcRect xmlns:a="http://schemas.openxmlformats.org/drawingml/2006/main" l="24164" t="0" r="241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381125"/>
            <a:ext cx="4572000" cy="4810125"/>
          </a:xfrm>
          <a:prstGeom xmlns:a="http://schemas.openxmlformats.org/drawingml/2006/main" prst="roundRect">
            <a:avLst>
              <a:gd name="adj" fmla="val 3750"/>
            </a:avLst>
          </a:prstGeom>
        </p:spPr>
      </p:pic>
    </p:spTree>
    <p:extLst>
      <p:ext uri="{BB962C8B-B14F-4D97-AF65-F5344CB8AC3E}">
        <p14:creationId xmlns:p14="http://schemas.microsoft.com/office/powerpoint/2010/main" val="11667681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1AEC6F-D83D-438E-A111-251AD7DC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8C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47DE6-7606-4C95-B51E-1B294AE3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0"/>
            <a:ext cx="990600" cy="1390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D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9CDC8-643E-4C25-9DC2-4E7A67C7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AFC22-1D3E-4693-BB87-4C0D5445C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8DAF1-6816-499A-947F-3E72D656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98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DFA3E-F730-4458-A183-859A42AC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410325"/>
            <a:ext cx="6858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ACBF7E-4702-42E4-A5F3-C4804934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rPr>
              <a:t>CAMPUS RESOURCE 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02611-F42B-46E6-AA01-3EB04F86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28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C8614-F7A5-4380-B181-4F00CCA6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3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rPr>
              <a:t>Every resource is checked before publication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699396-4AE1-46B1-A932-67E044CC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F06483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06483"/>
                </a:solidFill>
                <a:latin typeface="Avenir Next"/>
                <a:ea typeface="Avenir Next"/>
                <a:cs typeface="Avenir Next"/>
              </a:rPr>
              <a:t>UPLOAD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888F82-BBA3-40B3-A8F1-8EA3240E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525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 i="0">
                <a:solidFill>
                  <a:srgbClr val="118CA5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18CA5"/>
                </a:solidFill>
                <a:latin typeface="Avenir Next"/>
                <a:ea typeface="Avenir Next"/>
                <a:cs typeface="Avenir Next"/>
              </a:rPr>
              <a:t>DISCOVER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2A2490-95EB-4108-977A-820E6649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609725"/>
            <a:ext cx="5429250" cy="2990850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3E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058a20a7e46cd"/>
          <a:stretch xmlns:a="http://schemas.openxmlformats.org/drawingml/2006/main"/>
        </p:blipFill>
        <p:spPr>
          <a:xfrm xmlns:a="http://schemas.openxmlformats.org/drawingml/2006/main">
            <a:off x="533400" y="1658884"/>
            <a:ext cx="5334000" cy="2892532"/>
          </a:xfrm>
          <a:prstGeom xmlns:a="http://schemas.openxmlformats.org/drawingml/2006/main" prst="roundRect">
            <a:avLst>
              <a:gd name="adj" fmla="val 4605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6AA654-F78F-4657-90D0-A1A24D0B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609725"/>
            <a:ext cx="5429250" cy="2990850"/>
          </a:xfrm>
          <a:prstGeom xmlns:a="http://schemas.openxmlformats.org/drawingml/2006/main" prst="roundRect">
            <a:avLst>
              <a:gd name="adj" fmla="val 50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3E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e15ffbd044b0c"/>
          <a:stretch xmlns:a="http://schemas.openxmlformats.org/drawingml/2006/main"/>
        </p:blipFill>
        <p:spPr>
          <a:xfrm xmlns:a="http://schemas.openxmlformats.org/drawingml/2006/main">
            <a:off x="6324600" y="1658884"/>
            <a:ext cx="5334000" cy="2892532"/>
          </a:xfrm>
          <a:prstGeom xmlns:a="http://schemas.openxmlformats.org/drawingml/2006/main" prst="roundRect">
            <a:avLst>
              <a:gd name="adj" fmla="val 4605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CA9E0-0423-4BB3-AA9B-E8CB72C9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175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rPr>
              <a:t>Upload  →  extract &amp; scan  →  review if needed  →  publish &amp; index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ACF868-D6E0-4BDF-9BE8-95756E29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91150"/>
            <a:ext cx="876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DBF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51E18B-0863-4DF2-81D1-C1CF994D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Supported: PDF, DOCX, PPTX, XLSX and images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9080D4-2F55-4DD1-87C9-89B0CCC53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43550"/>
            <a:ext cx="561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575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rPr>
              <a:t>Flagged, partially inspected or provider-unavailable files stay unpublished for human review.</a:t>
            </a:r>
          </a:p>
        </p:txBody>
      </p:sp>
    </p:spTree>
    <p:extLst>
      <p:ext uri="{BB962C8B-B14F-4D97-AF65-F5344CB8AC3E}">
        <p14:creationId xmlns:p14="http://schemas.microsoft.com/office/powerpoint/2010/main" val="16709095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A7045A-BD68-46A7-9253-F4BFF0D8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8C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324C9D-1E74-4777-9A2F-DE1A68C2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0"/>
            <a:ext cx="990600" cy="1390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D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85F389-FDCB-46AA-BCAD-7E578C49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B3742-43C0-4871-B71C-F7F7306F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20234-015F-4968-860F-006C343C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98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BA06B8-B7BD-4D9A-90E2-3BABBCBD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410325"/>
            <a:ext cx="6858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6E1049-8289-4239-99D1-226CBFE8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rPr>
              <a:t>CAMPUS RESOURCE 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63CF77-CA4F-4DC7-807B-7CB77680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28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1DBBF-2159-423D-9F74-2E1C738B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3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rPr>
              <a:t>Campus updates should not get lost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74F9C3-A2C1-4D87-A22D-71A49B6A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57325"/>
            <a:ext cx="6953250" cy="381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3E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b900e36a684d8a"/>
          <a:stretch xmlns:a="http://schemas.openxmlformats.org/drawingml/2006/main"/>
        </p:blipFill>
        <p:spPr>
          <a:xfrm xmlns:a="http://schemas.openxmlformats.org/drawingml/2006/main">
            <a:off x="537290" y="1504950"/>
            <a:ext cx="6850220" cy="3714750"/>
          </a:xfrm>
          <a:prstGeom xmlns:a="http://schemas.openxmlformats.org/drawingml/2006/main" prst="roundRect">
            <a:avLst>
              <a:gd name="adj" fmla="val 3590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FB5CC9-7D55-4D7B-B1A3-9461B220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04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45BEB2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45BEB2"/>
                </a:solidFill>
                <a:latin typeface="Avenir Next"/>
                <a:ea typeface="Avenir Next"/>
                <a:cs typeface="Avenir Next"/>
              </a:rPr>
              <a:t>ANNOUNCEMENTS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07F8E8-E859-41E1-8AC9-0BF9D399B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866900"/>
            <a:ext cx="361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rPr>
              <a:t>Priority, scheduled publishing, expiry, attachments and read tracking.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9BE2BF-20AA-4A87-AEC1-2F482029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8130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8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55CDFA-381B-46B3-8251-EB9B991C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28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F06483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F06483"/>
                </a:solidFill>
                <a:latin typeface="Avenir Next"/>
                <a:ea typeface="Avenir Next"/>
                <a:cs typeface="Avenir Next"/>
              </a:rPr>
              <a:t>EVENTS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93F6A2-4700-41AA-8AD2-2DC9F3A1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90900"/>
            <a:ext cx="3619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rPr>
              <a:t>Going / maybe / declined RSVP, capacity limits, calendar view and cancellation notices.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1D6E0B-65CF-49E2-8682-A8B36BDB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8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F47341-AD84-4331-B332-90C1D494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86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118CA5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18CA5"/>
                </a:solidFill>
                <a:latin typeface="Avenir Next"/>
                <a:ea typeface="Avenir Next"/>
                <a:cs typeface="Avenir Next"/>
              </a:rPr>
              <a:t>CLUBS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8E458F-F8BD-44A1-A70A-7556458B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5048250"/>
            <a:ext cx="361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rPr>
              <a:t>Open or request-based joining, with member and officer roles.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360353-678D-4F6D-A5B2-6D8125E7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rPr>
              <a:t>One feed replaces scattered notices while keeping participation workflows structured.</a:t>
            </a:r>
          </a:p>
        </p:txBody>
      </p:sp>
    </p:spTree>
    <p:extLst>
      <p:ext uri="{BB962C8B-B14F-4D97-AF65-F5344CB8AC3E}">
        <p14:creationId xmlns:p14="http://schemas.microsoft.com/office/powerpoint/2010/main" val="14760547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ADD37F-7112-4A72-AF17-397BDAC7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8C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A1B651-7CEB-490A-B5D0-6249D408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0"/>
            <a:ext cx="990600" cy="1390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D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D0C89E-2075-4DBB-86BC-1BD0B81E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B7F18-8F08-4836-A78E-99E51334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7A81F-18D2-4E68-884A-2B41ECD9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98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1D3FB-88C0-4F27-85B5-444DEE79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410325"/>
            <a:ext cx="6858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B7DD3-8652-4F1B-B53A-6BFC500A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rPr>
              <a:t>CAMPUS RESOURCE 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7AE8F-6258-47E6-9DB4-365841B5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28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0AD127-E897-4198-B9A6-D4461A0F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3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rPr>
              <a:t>Lost-and-found protects contact details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5FAD84-A3D4-403A-AD1D-999E59AD1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6665D0-FC20-4BB9-80B4-DE060099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906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E5527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E55276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748686-1E74-4239-A5B0-70227A13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04950"/>
            <a:ext cx="304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03E55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103E55"/>
                </a:solidFill>
                <a:latin typeface="Avenir Next"/>
                <a:ea typeface="Avenir Next"/>
                <a:cs typeface="Avenir Next"/>
              </a:rPr>
              <a:t>Post an item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A9BF08-03F1-4087-82B1-4DC90C96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28800"/>
            <a:ext cx="304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4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Add a lost/found description, location and photo.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FBD39C-6267-4E42-877D-84CEBAE0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527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6E8ECB-248C-4425-8D6E-BDB5A685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193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E5527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E55276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6F1A0E-0248-4B0D-82AC-E5822C05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33650"/>
            <a:ext cx="304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03E55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103E55"/>
                </a:solidFill>
                <a:latin typeface="Avenir Next"/>
                <a:ea typeface="Avenir Next"/>
                <a:cs typeface="Avenir Next"/>
              </a:rPr>
              <a:t>Keep contact private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B8E8C5-CAFC-4D2F-BFD8-534FDD1B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304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4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Personal contact information stays hidden.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8393CC-4864-408B-B82A-CEA6F9AC9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A3A64C-9A67-4AF5-AF85-DBACBFA2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480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E5527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E55276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1B0B9C-8F07-4B70-9FD4-70517994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304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03E55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103E55"/>
                </a:solidFill>
                <a:latin typeface="Avenir Next"/>
                <a:ea typeface="Avenir Next"/>
                <a:cs typeface="Avenir Next"/>
              </a:rPr>
              <a:t>Review the claim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D8361E-4765-4759-B2A5-58F051FA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86200"/>
            <a:ext cx="304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4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The poster or moderator approves or rejects it.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D23D3E-3A96-48B4-8527-DFA28250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2D98E4-9326-4ED1-BA99-F8BA8824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7677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E55276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E55276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9B5D63-618C-4665-BA8D-B07C096DE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91050"/>
            <a:ext cx="3048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03E55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103E55"/>
                </a:solidFill>
                <a:latin typeface="Avenir Next"/>
                <a:ea typeface="Avenir Next"/>
                <a:cs typeface="Avenir Next"/>
              </a:rPr>
              <a:t>Reveal after approval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A7C3E6-B664-42AF-9DE7-A6611CFC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14900"/>
            <a:ext cx="304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4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Only the approved claimant can see contact details.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94AEA7-B89E-4879-8EF1-1B46A579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72150"/>
            <a:ext cx="3638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E55276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E55276"/>
                </a:solidFill>
                <a:latin typeface="Avenir Next"/>
                <a:ea typeface="Avenir Next"/>
                <a:cs typeface="Avenir Next"/>
              </a:rPr>
              <a:t>Open  →  Claimed  →  Resolved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5BC316-0849-41DE-BC8D-5D47E797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28750"/>
            <a:ext cx="7143750" cy="392430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3E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6fe34cb47a4134"/>
          <a:stretch xmlns:a="http://schemas.openxmlformats.org/drawingml/2006/main"/>
        </p:blipFill>
        <p:spPr>
          <a:xfrm xmlns:a="http://schemas.openxmlformats.org/drawingml/2006/main">
            <a:off x="4572000" y="1479763"/>
            <a:ext cx="7048500" cy="3822274"/>
          </a:xfrm>
          <a:prstGeom xmlns:a="http://schemas.openxmlformats.org/drawingml/2006/main" prst="roundRect">
            <a:avLst>
              <a:gd name="adj" fmla="val 3483"/>
            </a:avLst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099DA6-271F-4C56-BDD7-1E81F3C4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72125"/>
            <a:ext cx="66675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DD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B923C1-56AA-4DE8-B4A5-7FDBD3B2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743575"/>
            <a:ext cx="628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rPr>
              <a:t>The same safety scan applies before a post becomes visible.</a:t>
            </a:r>
          </a:p>
        </p:txBody>
      </p:sp>
    </p:spTree>
    <p:extLst>
      <p:ext uri="{BB962C8B-B14F-4D97-AF65-F5344CB8AC3E}">
        <p14:creationId xmlns:p14="http://schemas.microsoft.com/office/powerpoint/2010/main" val="1419214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DD12D8-538E-459D-B583-F11243A4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8C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A24A1-9188-47ED-A729-45B974A7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0"/>
            <a:ext cx="990600" cy="1390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D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82F75A-6C85-42E1-A650-591DD3A1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2EC385-AA9E-4B65-A999-4FE6BD47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40E28-53F5-41E0-AA9D-36FA16C3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98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94855-5137-474B-8B90-95095448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410325"/>
            <a:ext cx="6858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2781B-C025-4028-AEF0-0F686B5E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rPr>
              <a:t>CAMPUS RESOURCE 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C7D68-F192-4C41-8159-1FA5377C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28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D4AAB-8C1B-4FCC-A525-FE00C13E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3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rPr>
              <a:t>Real-time chat keeps coordination moving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90324-5494-4B46-9D12-6B56E5E4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rPr>
              <a:t>Direct + group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E21ABA-E549-4DB6-8C4B-6ED2B5FE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Conversations, replies, edits and attachments.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25457D-E2B4-4C3A-91FE-79A8B0F7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3811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rPr>
              <a:t>Delivery + seen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2F2BB5-0F47-423B-9C4F-E10E91F8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526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Per-user delivery and read status.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F6840F-37C7-442C-B1C7-59B01EFB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811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75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rPr>
              <a:t>Live notifications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C0CCF4-B952-4ACD-9BE7-F371F8F2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Messages and important actions update instantly.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1D8B83-218E-4CE6-A272-38ADB145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28750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8D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51BF88-F099-47AF-9558-62D6BEF4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428750"/>
            <a:ext cx="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8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FEF0E2-8F00-42E7-8FB1-75A9427D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371725"/>
            <a:ext cx="8001000" cy="4143375"/>
          </a:xfrm>
          <a:prstGeom xmlns:a="http://schemas.openxmlformats.org/drawingml/2006/main" prst="roundRect">
            <a:avLst>
              <a:gd name="adj" fmla="val 36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3E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fe6fabfdf04b39"/>
          <a:stretch xmlns:a="http://schemas.openxmlformats.org/drawingml/2006/main"/>
        </p:blipFill>
        <p:spPr>
          <a:xfrm xmlns:a="http://schemas.openxmlformats.org/drawingml/2006/main">
            <a:off x="2363509" y="2419350"/>
            <a:ext cx="7464983" cy="4048125"/>
          </a:xfrm>
          <a:prstGeom xmlns:a="http://schemas.openxmlformats.org/drawingml/2006/main" prst="roundRect">
            <a:avLst>
              <a:gd name="adj" fmla="val 3294"/>
            </a:avLst>
          </a:prstGeom>
        </p:spPr>
      </p:pic>
    </p:spTree>
    <p:extLst>
      <p:ext uri="{BB962C8B-B14F-4D97-AF65-F5344CB8AC3E}">
        <p14:creationId xmlns:p14="http://schemas.microsoft.com/office/powerpoint/2010/main" val="13541432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A00546-EA18-419E-B2AA-DAADB268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8C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D716E-C070-4D4C-A650-46BE6082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0"/>
            <a:ext cx="990600" cy="1390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D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808DF-CBD2-4F75-A181-AF08106D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B9357-F236-4E68-93C2-67158568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3502D-95D6-4B70-A0AE-C2F85E84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rPr>
              <a:t>CAMPUS RESOURCE HUB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0E7E81-64AF-47E2-B215-9BC67303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28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B43A0-AAB4-4A44-BC19-31B5DB00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3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rPr>
              <a:t>Search by meaning—not just keywords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E1FD74-2190-4029-810E-C661C203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334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55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55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rPr>
              <a:t>“Find exam preparation notes even when the title uses different words.”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B3829E-E7DC-4508-8BEA-22497A72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76375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400" b="1" i="0">
                <a:solidFill>
                  <a:srgbClr val="118CA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5400" b="1" i="0">
                <a:solidFill>
                  <a:srgbClr val="118CA5"/>
                </a:solidFill>
                <a:latin typeface="Arial Rounded MT Bold"/>
                <a:ea typeface="Arial Rounded MT Bold"/>
                <a:cs typeface="Arial Rounded MT Bold"/>
              </a:rPr>
              <a:t>384-D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6DDE58-729F-4ACF-B5F9-23D3DD7A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4315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multilingual sentence embeddings for published content and resource passages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37F62F-AD1C-4971-A4C7-484B4045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147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8D0256-BB46-4ADF-9864-FA21650B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52825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 i="0">
                <a:solidFill>
                  <a:srgbClr val="0A7189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325" b="1" i="0">
                <a:solidFill>
                  <a:srgbClr val="0A7189"/>
                </a:solidFill>
                <a:latin typeface="Arial Rounded MT Bold"/>
                <a:ea typeface="Arial Rounded MT Bold"/>
                <a:cs typeface="Arial Rounded MT Bold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772C60-3315-445E-AFA7-8C6E2D3C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2095500" cy="1123950"/>
          </a:xfrm>
          <a:prstGeom xmlns:a="http://schemas.openxmlformats.org/drawingml/2006/main" prst="roundRect">
            <a:avLst>
              <a:gd name="adj" fmla="val 20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D8D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895511-377E-4409-89E6-8D72AFF7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103E55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103E55"/>
                </a:solidFill>
                <a:latin typeface="Avenir Next"/>
                <a:ea typeface="Avenir Next"/>
                <a:cs typeface="Avenir Next"/>
              </a:rPr>
              <a:t>Content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9C034F-4AC9-4BC5-B92B-E79D7239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24425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Titles, bodies and file passages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1AF508-A19D-4751-8D23-FC1BD64D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52950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B8D8D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550" b="1" i="0">
                <a:solidFill>
                  <a:srgbClr val="B8D8D6"/>
                </a:solidFill>
                <a:latin typeface="Arial Rounded MT Bold"/>
                <a:ea typeface="Arial Rounded MT Bold"/>
                <a:cs typeface="Arial Rounded MT Bold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15552A-F396-4584-B190-86C7AB7F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3147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13C264-9895-4DA0-A22A-9460D9B2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552825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 i="0">
                <a:solidFill>
                  <a:srgbClr val="0A7189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325" b="1" i="0">
                <a:solidFill>
                  <a:srgbClr val="0A7189"/>
                </a:solidFill>
                <a:latin typeface="Arial Rounded MT Bold"/>
                <a:ea typeface="Arial Rounded MT Bold"/>
                <a:cs typeface="Arial Rounded MT Bold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8A4815-4931-405B-BF41-FA15FA2E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33875"/>
            <a:ext cx="2095500" cy="1123950"/>
          </a:xfrm>
          <a:prstGeom xmlns:a="http://schemas.openxmlformats.org/drawingml/2006/main" prst="roundRect">
            <a:avLst>
              <a:gd name="adj" fmla="val 20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D8D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3B85B2-93F1-46FD-B84E-F60C168D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4958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103E55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103E55"/>
                </a:solidFill>
                <a:latin typeface="Avenir Next"/>
                <a:ea typeface="Avenir Next"/>
                <a:cs typeface="Avenir Next"/>
              </a:rPr>
              <a:t>Embedding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E06CC7-3360-49FA-9923-0BC46977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924425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Multilingual MiniLM vector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68033D-0745-4963-81ED-64F2BF4F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52950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B8D8D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550" b="1" i="0">
                <a:solidFill>
                  <a:srgbClr val="B8D8D6"/>
                </a:solidFill>
                <a:latin typeface="Arial Rounded MT Bold"/>
                <a:ea typeface="Arial Rounded MT Bold"/>
                <a:cs typeface="Arial Rounded MT Bold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89050D-3327-4595-83F9-B5F53C75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147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6AFDCE-CACF-494F-B45F-96A7002B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52825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 i="0">
                <a:solidFill>
                  <a:srgbClr val="0A7189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325" b="1" i="0">
                <a:solidFill>
                  <a:srgbClr val="0A7189"/>
                </a:solidFill>
                <a:latin typeface="Arial Rounded MT Bold"/>
                <a:ea typeface="Arial Rounded MT Bold"/>
                <a:cs typeface="Arial Rounded MT Bold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DB2A8C-D141-46F0-A517-8EDBEE56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33875"/>
            <a:ext cx="2095500" cy="1123950"/>
          </a:xfrm>
          <a:prstGeom xmlns:a="http://schemas.openxmlformats.org/drawingml/2006/main" prst="roundRect">
            <a:avLst>
              <a:gd name="adj" fmla="val 20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D8D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A58145-CF1C-4126-9D93-0E47C8BF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958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103E55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103E55"/>
                </a:solidFill>
                <a:latin typeface="Avenir Next"/>
                <a:ea typeface="Avenir Next"/>
                <a:cs typeface="Avenir Next"/>
              </a:rPr>
              <a:t>Vector search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D54001-DE38-463E-B4A5-3FCFAF44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24425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MongoDB Atlas ranking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1042F5-293E-4581-BBC9-95D3129F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52950"/>
            <a:ext cx="38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 i="0">
                <a:solidFill>
                  <a:srgbClr val="B8D8D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550" b="1" i="0">
                <a:solidFill>
                  <a:srgbClr val="B8D8D6"/>
                </a:solidFill>
                <a:latin typeface="Arial Rounded MT Bold"/>
                <a:ea typeface="Arial Rounded MT Bold"/>
                <a:cs typeface="Arial Rounded MT Bold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F3F29B-358F-468B-A4D7-FBAB82BB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147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F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EB245B-B05D-4F5D-BBE8-8CD6604D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52825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 i="0">
                <a:solidFill>
                  <a:srgbClr val="0A7189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325" b="1" i="0">
                <a:solidFill>
                  <a:srgbClr val="0A7189"/>
                </a:solidFill>
                <a:latin typeface="Arial Rounded MT Bold"/>
                <a:ea typeface="Arial Rounded MT Bold"/>
                <a:cs typeface="Arial Rounded MT Bold"/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033511-AC3C-470F-8390-33702F32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33875"/>
            <a:ext cx="2095500" cy="1123950"/>
          </a:xfrm>
          <a:prstGeom xmlns:a="http://schemas.openxmlformats.org/drawingml/2006/main" prst="roundRect">
            <a:avLst>
              <a:gd name="adj" fmla="val 203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D8D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88709B-6678-4A36-92CB-4AEA8BB7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958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103E55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103E55"/>
                </a:solidFill>
                <a:latin typeface="Avenir Next"/>
                <a:ea typeface="Avenir Next"/>
                <a:cs typeface="Avenir Next"/>
              </a:rPr>
              <a:t>AI answer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7C7C09-C350-430E-BB16-AEF05391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924425"/>
            <a:ext cx="1752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Numbered, clickable sources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CE3D15-65F2-4547-8D54-09DADFB8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100965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31DAD9-A52C-4B47-B6BA-8B26821B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150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103E55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03E55"/>
                </a:solidFill>
                <a:latin typeface="Avenir Next"/>
                <a:ea typeface="Avenir Next"/>
                <a:cs typeface="Avenir Next"/>
              </a:rPr>
              <a:t>CRH re-checks approval, ownership and role visibility before showing results.</a:t>
            </a:r>
          </a:p>
        </p:txBody>
      </p:sp>
    </p:spTree>
    <p:extLst>
      <p:ext uri="{BB962C8B-B14F-4D97-AF65-F5344CB8AC3E}">
        <p14:creationId xmlns:p14="http://schemas.microsoft.com/office/powerpoint/2010/main" val="18026845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743243-FE0B-4D32-AB5E-52060C3C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8C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DFC96E-86FA-4F2C-AF0E-ED674E37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0"/>
            <a:ext cx="990600" cy="1390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D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EF221-1BEF-47AB-B99D-C0A6D89C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F8B2F-EECA-40E5-B830-A6A841AE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2F594-4CEC-4E1C-B055-2534D409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98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5FF9C4-3F19-49E1-9138-F9CA614E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410325"/>
            <a:ext cx="6858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CD75D-B1E3-4338-9103-AE14C32A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rPr>
              <a:t>CAMPUS RESOURCE 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74BF4-B62D-4CB1-852A-E817DCCA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28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FE007B-E285-4EBB-8D59-ECBE8A4EC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3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rPr>
              <a:t>A three-tier stack keeps CRH maintainable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7D4CE-1253-417A-AADD-066D678C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314325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8CA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0903D2-6F69-424A-A268-22D3DF83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118CA5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118CA5"/>
                </a:solidFill>
                <a:latin typeface="Avenir Next"/>
                <a:ea typeface="Avenir Next"/>
                <a:cs typeface="Avenir Next"/>
              </a:rPr>
              <a:t>PRESENTATION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C52953-2753-40AE-A946-E0B67E49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1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rPr>
              <a:t>React + Vite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AB99A4-ACB7-4462-A001-5DC9135B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Single-page application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Protected, responsive UI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4416C5-D976-463A-BFBE-15A02512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00300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300" b="1" i="0">
                <a:solidFill>
                  <a:srgbClr val="B8D8D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300" b="1" i="0">
                <a:solidFill>
                  <a:srgbClr val="B8D8D6"/>
                </a:solidFill>
                <a:latin typeface="Arial Rounded MT Bold"/>
                <a:ea typeface="Arial Rounded MT Bold"/>
                <a:cs typeface="Arial Rounded MT Bold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22635B-5872-4341-9D16-A48CCABB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314325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0648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356C7D-585E-4C7D-AE01-F97E7588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9812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F06483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06483"/>
                </a:solidFill>
                <a:latin typeface="Avenir Next"/>
                <a:ea typeface="Avenir Next"/>
                <a:cs typeface="Avenir Next"/>
              </a:rPr>
              <a:t>APPLICATION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6B5205-7E1B-4A01-8146-CB46A04E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4315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1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rPr>
              <a:t>Node.js + Express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FB9D05-7634-49D8-A70C-B2F76664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105150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REST API + Socket.io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Business rules and live updates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96C2D3-371A-40D2-967B-CF812EF5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400300"/>
            <a:ext cx="495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300" b="1" i="0">
                <a:solidFill>
                  <a:srgbClr val="B8D8D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300" b="1" i="0">
                <a:solidFill>
                  <a:srgbClr val="B8D8D6"/>
                </a:solidFill>
                <a:latin typeface="Arial Rounded MT Bold"/>
                <a:ea typeface="Arial Rounded MT Bold"/>
                <a:cs typeface="Arial Rounded MT Bold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97BAD0-AD62-46CE-B083-7EC84176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14500"/>
            <a:ext cx="314325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5BEB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12897D-DEC0-4809-8ABE-1E32FB1E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8120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 i="0">
                <a:solidFill>
                  <a:srgbClr val="45BEB2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45BEB2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338C41-F467-4C56-B41B-BD1ED082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343150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1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rPr>
              <a:t>MongoDB Atlas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1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1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rPr>
              <a:t>+ Cloudinary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9BD872-A99A-47B9-802A-C164968E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05150"/>
            <a:ext cx="2647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Documents + vector index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4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Files and images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9C352E-BBBC-42FC-9D63-262CDADE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03E55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103E55"/>
                </a:solidFill>
                <a:latin typeface="Avenir Next"/>
                <a:ea typeface="Avenir Next"/>
                <a:cs typeface="Avenir Next"/>
              </a:rPr>
              <a:t>External services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BAA338-9AB6-4D9D-B97C-A965EE40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571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06000"/>
              </a:lnSpc>
              <a:spcAft>
                <a:spcPts val="12"/>
              </a:spcAft>
              <a:buNone/>
              <a:defRPr sz="15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Brevo SMTP</a:t>
            </a:r>
            <a:r>
              <a:rPr sz="15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 for signup and password-reset OTP.</a:t>
            </a:r>
          </a:p>
          <a:p xmlns:a="http://schemas.openxmlformats.org/drawingml/2006/main">
            <a:pPr marL="22" indent="-12" algn="l">
              <a:lnSpc>
                <a:spcPct val="106000"/>
              </a:lnSpc>
              <a:spcAft>
                <a:spcPts val="12"/>
              </a:spcAft>
              <a:buNone/>
              <a:defRPr sz="15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AI providers</a:t>
            </a:r>
            <a:r>
              <a:rPr sz="15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 for moderation and assistance.</a:t>
            </a:r>
          </a:p>
          <a:p xmlns:a="http://schemas.openxmlformats.org/drawingml/2006/main">
            <a:pPr marL="22" indent="-12" algn="l">
              <a:lnSpc>
                <a:spcPct val="106000"/>
              </a:lnSpc>
              <a:spcAft>
                <a:spcPts val="12"/>
              </a:spcAft>
              <a:buNone/>
              <a:defRPr sz="15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HTTPS / WSS</a:t>
            </a:r>
            <a:r>
              <a:rPr sz="15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 between browser, API and live gateway.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CBBA7D-D791-4ED3-BDB7-DEC80B82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38625"/>
            <a:ext cx="4762500" cy="1809750"/>
          </a:xfrm>
          <a:prstGeom xmlns:a="http://schemas.openxmlformats.org/drawingml/2006/main" prst="roundRect">
            <a:avLst>
              <a:gd name="adj" fmla="val 27368"/>
            </a:avLst>
          </a:prstGeom>
          <a:solidFill xmlns:a="http://schemas.openxmlformats.org/drawingml/2006/main">
            <a:srgbClr val="DD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E08A1A-9D68-472B-8885-714D68B6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243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025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rPr>
              <a:t>Cloud deployment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003B4C-1742-473A-82EC-EAFE1EFD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720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Frontend: Vercel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Backend: Render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Database and vector search: MongoDB Atlas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File storage: Cloudinary</a:t>
            </a:r>
          </a:p>
        </p:txBody>
      </p:sp>
    </p:spTree>
    <p:extLst>
      <p:ext uri="{BB962C8B-B14F-4D97-AF65-F5344CB8AC3E}">
        <p14:creationId xmlns:p14="http://schemas.microsoft.com/office/powerpoint/2010/main" val="5419614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CCC24D-57C3-420F-9CFD-780A9CF3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8C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C6AA6E-6E8E-4C36-94EF-5D2ABE7B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0"/>
            <a:ext cx="990600" cy="1390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D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BD6A3-1C74-47F5-9D78-9F283E3D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858A12-FE97-4273-AAC7-DE085EDC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B08E92-4823-4956-8A5B-915D8D23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98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43CADC-41D6-4AB8-A33F-73AE1B6C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410325"/>
            <a:ext cx="6858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85659-9540-4CB8-A72D-35E88737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rPr>
              <a:t>CAMPUS RESOURCE 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BC180-80BF-4377-A2F2-EC5BCECE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28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670BDB-7D97-4B88-96AF-AD146979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3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rPr>
              <a:t>The data model supports services and AI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D61CE4-C433-4D7C-9E95-28EF6619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1428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700" b="1" i="0">
                <a:solidFill>
                  <a:srgbClr val="118CA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5700" b="1" i="0">
                <a:solidFill>
                  <a:srgbClr val="118CA5"/>
                </a:solidFill>
                <a:latin typeface="Arial Rounded MT Bold"/>
                <a:ea typeface="Arial Rounded MT Bold"/>
                <a:cs typeface="Arial Rounded MT Bold"/>
              </a:rPr>
              <a:t>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C968B9-5048-4F8B-B768-938FB38E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336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1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rPr>
              <a:t>MongoDB collections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3D13B-18CE-4B3B-BFF8-DC627FE28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28950"/>
            <a:ext cx="3333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12"/>
              </a:spcAft>
              <a:buNone/>
              <a:defRPr sz="1575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rPr>
              <a:t>User</a:t>
            </a:r>
            <a:r>
              <a:rPr sz="1575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rPr>
              <a:t> is the authorization hub for most relationships.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12"/>
              </a:spcAft>
              <a:buNone/>
              <a:defRPr sz="1575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rPr>
              <a:t>Content collections</a:t>
            </a:r>
            <a:r>
              <a:rPr sz="1575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rPr>
              <a:t> share moderation and approval fields.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12"/>
              </a:spcAft>
              <a:buNone/>
              <a:defRPr sz="1575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rPr>
              <a:t>Embedding + ResourceChunk</a:t>
            </a:r>
            <a:r>
              <a:rPr sz="1575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rPr>
              <a:t> support semantic and passage-level retrieval.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12"/>
              </a:spcAft>
              <a:buNone/>
              <a:defRPr sz="1575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rPr>
              <a:t>Conversation + Message</a:t>
            </a:r>
            <a:r>
              <a:rPr sz="1575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rPr>
              <a:t> separate thread membership from message history.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CA2971-A20B-4AC6-B11C-282B27B1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6262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1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1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Solid lines show stored references; dashed lines show soft or polymorphic links.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7becb7bed14f7f"/>
          <a:stretch xmlns:a="http://schemas.openxmlformats.org/drawingml/2006/main"/>
        </p:blipFill>
        <p:spPr>
          <a:xfrm xmlns:a="http://schemas.openxmlformats.org/drawingml/2006/main">
            <a:off x="4943018" y="1333500"/>
            <a:ext cx="6115965" cy="5095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5372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A748E9-1BAF-41BB-9858-3F208543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8C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7E2228-F805-4266-8CA7-938141EE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0"/>
            <a:ext cx="990600" cy="1390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D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8A221-4372-4DC8-8080-4B8183A2E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0948B-14E7-43CC-AC80-7982DC0FF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E2F460-A34A-4998-B736-64EF87E89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98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08494-770A-437B-BE09-97F83E28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410325"/>
            <a:ext cx="6858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A853F-394B-4B86-86DB-669E9D1A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rPr>
              <a:t>CAMPUS RESOURCE 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D6805-1853-4072-B8B6-3E8FF47E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28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2B5B6E-1F50-4D89-B799-CD5DF4EC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3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rPr>
              <a:t>The reported tests support the core build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198F3-46EE-4C9B-ABFD-B6B88F6F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400" b="1" i="0">
                <a:solidFill>
                  <a:srgbClr val="118CA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5400" b="1" i="0">
                <a:solidFill>
                  <a:srgbClr val="118CA5"/>
                </a:solidFill>
                <a:latin typeface="Arial Rounded MT Bold"/>
                <a:ea typeface="Arial Rounded MT Bold"/>
                <a:cs typeface="Arial Rounded MT Bold"/>
              </a:rPr>
              <a:t>6/6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C58121-9D1C-4746-831A-86693619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backend unit tests passed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7C4903-AC9C-44FF-8277-692802E5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809750"/>
            <a:ext cx="0" cy="1762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8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88B441-1503-49A0-87DD-148069381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621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400" b="1" i="0">
                <a:solidFill>
                  <a:srgbClr val="45BEB2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5400" b="1" i="0">
                <a:solidFill>
                  <a:srgbClr val="45BEB2"/>
                </a:solidFill>
                <a:latin typeface="Arial Rounded MT Bold"/>
                <a:ea typeface="Arial Rounded MT Bold"/>
                <a:cs typeface="Arial Rounded MT Bold"/>
              </a:rPr>
              <a:t>54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868A1C-8A24-4008-90AF-02BCD828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approved resources indexed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with 0 extraction failures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FF0C0E-5B00-4383-AC6B-8E2A9284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809750"/>
            <a:ext cx="0" cy="1762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8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97ECFC-2D51-4DE8-B3DA-C72AE700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400" b="1" i="0">
                <a:solidFill>
                  <a:srgbClr val="F0648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5400" b="1" i="0">
                <a:solidFill>
                  <a:srgbClr val="F06483"/>
                </a:solidFill>
                <a:latin typeface="Arial Rounded MT Bold"/>
                <a:ea typeface="Arial Rounded MT Bold"/>
                <a:cs typeface="Arial Rounded MT Bold"/>
              </a:rPr>
              <a:t>8 / 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BAFA26-9B9F-4F4E-BB83-E7DD0BB9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5750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visible / unauthorized sources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in the authorization 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9C920E-BF00-4141-96D5-30500F29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809750"/>
            <a:ext cx="0" cy="1762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8D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D8EB6D-8E64-4E27-87C0-A9AC247C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62125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4050" b="1" i="0">
                <a:solidFill>
                  <a:srgbClr val="E55276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4050" b="1" i="0">
                <a:solidFill>
                  <a:srgbClr val="E55276"/>
                </a:solidFill>
                <a:latin typeface="Arial Rounded MT Bold"/>
                <a:ea typeface="Arial Rounded MT Bold"/>
                <a:cs typeface="Arial Rounded MT Bold"/>
              </a:rPr>
              <a:t>PASS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04359A-B387-4017-8593-D77014DC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5750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frontend production build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6B1EFC-C7FD-4D3F-A8DB-C1BB4276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10858500" cy="1485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5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300250-26D7-4F46-AEA5-3F0972C6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958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0A7189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025" b="1" i="0">
                <a:solidFill>
                  <a:srgbClr val="0A7189"/>
                </a:solidFill>
                <a:latin typeface="Arial Rounded MT Bold"/>
                <a:ea typeface="Arial Rounded MT Bold"/>
                <a:cs typeface="Arial Rounded MT Bold"/>
              </a:rPr>
              <a:t>What was verified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0ECA8E-39D0-4A74-B0E3-514061B1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103E55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103E55"/>
                </a:solidFill>
                <a:latin typeface="Avenir Next"/>
                <a:ea typeface="Avenir Next"/>
                <a:cs typeface="Avenir Next"/>
              </a:rPr>
              <a:t>OTP and JWT access • five upload formats • fail-safe moderation • events and clubs • private lost-and-found claims • real-time chat • semantic search • admin approvals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00D862-AF38-4926-883F-75BCDDD1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007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defRPr>
            </a:pPr>
            <a:r>
              <a:rPr sz="1725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rPr>
              <a:t>All major feature groups were checked across student, moderator and admin roles.</a:t>
            </a:r>
          </a:p>
        </p:txBody>
      </p:sp>
    </p:spTree>
    <p:extLst>
      <p:ext uri="{BB962C8B-B14F-4D97-AF65-F5344CB8AC3E}">
        <p14:creationId xmlns:p14="http://schemas.microsoft.com/office/powerpoint/2010/main" val="10053538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F2C699-FC9B-4032-8AC2-B7C40529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0"/>
            <a:ext cx="9525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8C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E5336-F885-4117-9C64-06979B8D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0"/>
            <a:ext cx="990600" cy="1390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D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7BE82-E890-41EC-952D-285C4B7C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39BD7-A62A-47BF-B2C4-5DCF1AB80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95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4E8D2E-D33E-410E-896B-62902827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98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DA45C1-6E77-4A62-A601-80FCE127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6410325"/>
            <a:ext cx="6858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D0C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27AFE-7302-446F-B981-A36E00BF4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rPr>
              <a:t>CAMPUS RESOURCE HUB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41B7F4-E295-43E4-9206-7B181B46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22860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125" b="1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A3EAD-8DD2-4F38-9C69-27EFB1A4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3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330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rPr>
              <a:t>CRH is ready for a department-scale 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735517-35D4-42C4-86D3-61C80905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950" b="1" i="0">
                <a:solidFill>
                  <a:srgbClr val="118CA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4950" b="1" i="0">
                <a:solidFill>
                  <a:srgbClr val="118CA5"/>
                </a:solidFill>
                <a:latin typeface="Arial Rounded MT Bold"/>
                <a:ea typeface="Arial Rounded MT Bold"/>
                <a:cs typeface="Arial Rounded MT Bold"/>
              </a:rPr>
              <a:t>50–100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03A225-1EA0-466B-869A-BFE20350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103E55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103E55"/>
                </a:solidFill>
                <a:latin typeface="Avenir Next"/>
                <a:ea typeface="Avenir Next"/>
                <a:cs typeface="Avenir Next"/>
              </a:rPr>
              <a:t>concurrent active users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0271C-0D1D-46A2-8E28-B6372C2E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8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2A994A-93F1-4C34-8A17-CD74438B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F06483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4050" b="1" i="0">
                <a:solidFill>
                  <a:srgbClr val="F06483"/>
                </a:solidFill>
                <a:latin typeface="Arial Rounded MT Bold"/>
                <a:ea typeface="Arial Rounded MT Bold"/>
                <a:cs typeface="Arial Rounded MT Bold"/>
              </a:rPr>
              <a:t>200–300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E6384C-EE24-42E8-9847-554806EF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909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connected users including idle sessions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BED1A-0FAB-4E84-8DFA-210CA4F2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33875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D8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B5CBC5-6C4B-46E6-8D9D-DBFEECD9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650" b="1" i="0">
                <a:solidFill>
                  <a:srgbClr val="45BEB2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4650" b="1" i="0">
                <a:solidFill>
                  <a:srgbClr val="45BEB2"/>
                </a:solidFill>
                <a:latin typeface="Arial Rounded MT Bold"/>
                <a:ea typeface="Arial Rounded MT Bold"/>
                <a:cs typeface="Arial Rounded MT Bold"/>
              </a:rPr>
              <a:t>$0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536058-2501-4D25-9A07-B74831AC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6250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current recurring cost on free cloud tiers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9CE13B-9C54-495E-83FA-43091AE10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225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rPr>
              <a:t>Next improvements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BE147F-F46C-4198-8B8E-86024D8E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4762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12"/>
              </a:spcAft>
              <a:buNone/>
              <a:defRPr sz="1650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rPr>
              <a:t>Background job queue</a:t>
            </a:r>
            <a:r>
              <a:rPr sz="1650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rPr>
              <a:t> for AI scans and embeddings.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12"/>
              </a:spcAft>
              <a:buNone/>
              <a:defRPr sz="1650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rPr>
              <a:t>Mobile app + push notifications</a:t>
            </a:r>
            <a:r>
              <a:rPr sz="1650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rPr>
              <a:t> for wider daily use.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12"/>
              </a:spcAft>
              <a:buNone/>
              <a:defRPr sz="1650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rPr>
              <a:t>University SSO, Bangla and accessibility</a:t>
            </a:r>
            <a:r>
              <a:rPr sz="1650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rPr>
              <a:t> for inclusive adoption.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12"/>
              </a:spcAft>
              <a:buNone/>
              <a:defRPr sz="1650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defRPr>
            </a:pPr>
            <a:r>
              <a:rPr sz="1650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rPr>
              <a:t>Paid compute and database tiers</a:t>
            </a:r>
            <a:r>
              <a:rPr sz="1650" b="0" i="0">
                <a:solidFill>
                  <a:srgbClr val="173F50"/>
                </a:solidFill>
                <a:latin typeface="Avenir Next"/>
                <a:ea typeface="Avenir Next"/>
                <a:cs typeface="Avenir Next"/>
              </a:rPr>
              <a:t> for 500+ active users.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382536-3DE7-42EF-91D3-4FA402D2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14900"/>
            <a:ext cx="485775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FDE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8F7CB2-CBFD-4079-A8A8-0E9528A2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10150"/>
            <a:ext cx="4438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E5527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E55276"/>
                </a:solidFill>
                <a:latin typeface="Avenir Next"/>
                <a:ea typeface="Avenir Next"/>
                <a:cs typeface="Avenir Next"/>
              </a:rPr>
              <a:t>Main current bottleneck: upload-time AI scanning and embedding work on free CPU.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2812B0-7345-447E-B5C5-6F7F3631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91200"/>
            <a:ext cx="1112520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D00C21-BB57-4E82-9F05-629917DD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62650"/>
            <a:ext cx="1055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103E55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103E55"/>
                </a:solidFill>
                <a:latin typeface="Avenir Next"/>
                <a:ea typeface="Avenir Next"/>
                <a:cs typeface="Avenir Next"/>
              </a:rPr>
              <a:t>Student-built. Full-stack. Real-time. AI-assisted. Designed for everyday campus use.</a:t>
            </a:r>
          </a:p>
        </p:txBody>
      </p:sp>
    </p:spTree>
    <p:extLst>
      <p:ext uri="{BB962C8B-B14F-4D97-AF65-F5344CB8AC3E}">
        <p14:creationId xmlns:p14="http://schemas.microsoft.com/office/powerpoint/2010/main" val="14316018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F25C3B-93A1-4626-A94F-CDBFA09A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0"/>
            <a:ext cx="11430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8C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9A839-EA08-41BE-9AB3-3DC2B109A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66800" cy="1028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9DD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265002-9FBF-41BA-98A6-C8A79AD0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64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59BCA-B3CC-4502-8990-03BCFFD9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952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D0C7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ce332f159e4045"/>
          <a:stretch xmlns:a="http://schemas.openxmlformats.org/drawingml/2006/main"/>
        </p:blipFill>
        <p:spPr>
          <a:xfrm xmlns:a="http://schemas.openxmlformats.org/drawingml/2006/main">
            <a:off x="10725150" y="327174"/>
            <a:ext cx="685800" cy="81250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3B7A3A-B4B0-418E-8C47-7640307E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668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0A7189"/>
                </a:solidFill>
                <a:latin typeface="Avenir Next"/>
                <a:ea typeface="Avenir Next"/>
                <a:cs typeface="Avenir Next"/>
              </a:rPr>
              <a:t>CAMPUS RESOURCE HUB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537F4-87E4-45BA-8C96-B3C9C138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52625"/>
            <a:ext cx="657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15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defRPr>
            </a:pPr>
            <a:r>
              <a:rPr sz="6150" b="1" i="0">
                <a:solidFill>
                  <a:srgbClr val="103E55"/>
                </a:solidFill>
                <a:latin typeface="Arial Rounded MT Bold"/>
                <a:ea typeface="Arial Rounded MT Bold"/>
                <a:cs typeface="Arial Rounded MT Bold"/>
              </a:rPr>
              <a:t>Thank you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15C950-3CE6-4034-BEDD-2EF5FDD5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29100"/>
            <a:ext cx="619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A student-built platform for secure resources, campus services and real-time communication.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9F69E-DD4B-42DE-9708-CB4139FC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33550"/>
            <a:ext cx="2781300" cy="2781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3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726C18-1BD5-4E07-9322-B84044EE3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6385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5F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3F8FA9-32C9-4CD4-9F1D-2F628926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9052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1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e090bc7e145e9"/>
          <a:stretch xmlns:a="http://schemas.openxmlformats.org/drawingml/2006/main"/>
        </p:blipFill>
        <p:spPr>
          <a:xfrm xmlns:a="http://schemas.openxmlformats.org/drawingml/2006/main">
            <a:off x="9163050" y="2533650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01549D-AC22-4C9F-BBB6-CA8ABF04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924550"/>
            <a:ext cx="685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Department of Computer Science &amp; Engineering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496878"/>
                </a:solidFill>
                <a:latin typeface="Avenir Next"/>
                <a:ea typeface="Avenir Next"/>
                <a:cs typeface="Avenir Next"/>
              </a:rPr>
              <a:t>Northern University Bangladesh</a:t>
            </a:r>
          </a:p>
        </p:txBody>
      </p:sp>
    </p:spTree>
    <p:extLst>
      <p:ext uri="{BB962C8B-B14F-4D97-AF65-F5344CB8AC3E}">
        <p14:creationId xmlns:p14="http://schemas.microsoft.com/office/powerpoint/2010/main" val="10515060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2026-08-19T06:26:37.2170000Z</dcterms:created>
  <dcterms:modified xsi:type="dcterms:W3CDTF">2026-08-19T06:26:37.2170000Z</dcterms:modified>
</coreProperties>
</file>