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017f6275154547" /><Relationship Type="http://schemas.openxmlformats.org/officeDocument/2006/relationships/extended-properties" Target="/docProps/app.xml" Id="R4529b072d17544fd" /><Relationship Type="http://schemas.openxmlformats.org/officeDocument/2006/relationships/officeDocument" Target="/ppt/presentation.xml" Id="Rdcb089dd1f5a46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8a321f29a94c9e"/>
  </p:sldMasterIdLst>
  <p:notesMasterIdLst>
    <p:notesMasterId xmlns:r="http://schemas.openxmlformats.org/officeDocument/2006/relationships" r:id="R7e3b1c693d454af5"/>
  </p:notesMasterIdLst>
  <p:sldIdLst>
    <p:sldId xmlns:r="http://schemas.openxmlformats.org/officeDocument/2006/relationships" id="256" r:id="Re2f3d96e06864d94"/>
    <p:sldId xmlns:r="http://schemas.openxmlformats.org/officeDocument/2006/relationships" id="257" r:id="Rd008178ad24e4be7"/>
    <p:sldId xmlns:r="http://schemas.openxmlformats.org/officeDocument/2006/relationships" id="258" r:id="Rf78f670943ac4a91"/>
    <p:sldId xmlns:r="http://schemas.openxmlformats.org/officeDocument/2006/relationships" id="259" r:id="R9d9951d4af3e437e"/>
    <p:sldId xmlns:r="http://schemas.openxmlformats.org/officeDocument/2006/relationships" id="260" r:id="R68cbc0ac397d49b6"/>
    <p:sldId xmlns:r="http://schemas.openxmlformats.org/officeDocument/2006/relationships" id="261" r:id="Ra8460ef468764fce"/>
    <p:sldId xmlns:r="http://schemas.openxmlformats.org/officeDocument/2006/relationships" id="262" r:id="Rfdfb9b74784e46af"/>
    <p:sldId xmlns:r="http://schemas.openxmlformats.org/officeDocument/2006/relationships" id="263" r:id="R025e92b2b1f34da6"/>
    <p:sldId xmlns:r="http://schemas.openxmlformats.org/officeDocument/2006/relationships" id="264" r:id="Re4fba696fa224bad"/>
    <p:sldId xmlns:r="http://schemas.openxmlformats.org/officeDocument/2006/relationships" id="265" r:id="R5e4527e82fed44fb"/>
    <p:sldId xmlns:r="http://schemas.openxmlformats.org/officeDocument/2006/relationships" id="266" r:id="R2c5236d9924547f9"/>
    <p:sldId xmlns:r="http://schemas.openxmlformats.org/officeDocument/2006/relationships" id="267" r:id="Rf624c47a44504965"/>
    <p:sldId xmlns:r="http://schemas.openxmlformats.org/officeDocument/2006/relationships" id="268" r:id="R86d1aedad75f4beb"/>
    <p:sldId xmlns:r="http://schemas.openxmlformats.org/officeDocument/2006/relationships" id="269" r:id="R4d49c09ca6264b5c"/>
    <p:sldId xmlns:r="http://schemas.openxmlformats.org/officeDocument/2006/relationships" id="270" r:id="Rc1d06a4a786443e2"/>
    <p:sldId xmlns:r="http://schemas.openxmlformats.org/officeDocument/2006/relationships" id="271" r:id="R74d96e4bb39c45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4ca6ca4767414c" /><Relationship Type="http://schemas.openxmlformats.org/officeDocument/2006/relationships/slideMaster" Target="/ppt/slideMasters/slideMaster1.xml" Id="Ra18a321f29a94c9e" /><Relationship Type="http://schemas.openxmlformats.org/officeDocument/2006/relationships/notesMaster" Target="/ppt/notesMasters/notesMaster1.xml" Id="R7e3b1c693d454af5" /><Relationship Type="http://schemas.openxmlformats.org/officeDocument/2006/relationships/presProps" Target="/ppt/presProps.xml" Id="Rd346323500484319" /><Relationship Type="http://schemas.openxmlformats.org/officeDocument/2006/relationships/tableStyles" Target="/ppt/tableStyles.xml" Id="R6e820d420e084082" /><Relationship Type="http://schemas.openxmlformats.org/officeDocument/2006/relationships/slide" Target="/ppt/slides/slide1.xml" Id="Re2f3d96e06864d94" /><Relationship Type="http://schemas.openxmlformats.org/officeDocument/2006/relationships/slide" Target="/ppt/slides/slide2.xml" Id="Rd008178ad24e4be7" /><Relationship Type="http://schemas.openxmlformats.org/officeDocument/2006/relationships/slide" Target="/ppt/slides/slide3.xml" Id="Rf78f670943ac4a91" /><Relationship Type="http://schemas.openxmlformats.org/officeDocument/2006/relationships/slide" Target="/ppt/slides/slide4.xml" Id="R9d9951d4af3e437e" /><Relationship Type="http://schemas.openxmlformats.org/officeDocument/2006/relationships/slide" Target="/ppt/slides/slide5.xml" Id="R68cbc0ac397d49b6" /><Relationship Type="http://schemas.openxmlformats.org/officeDocument/2006/relationships/slide" Target="/ppt/slides/slide6.xml" Id="Ra8460ef468764fce" /><Relationship Type="http://schemas.openxmlformats.org/officeDocument/2006/relationships/slide" Target="/ppt/slides/slide7.xml" Id="Rfdfb9b74784e46af" /><Relationship Type="http://schemas.openxmlformats.org/officeDocument/2006/relationships/slide" Target="/ppt/slides/slide8.xml" Id="R025e92b2b1f34da6" /><Relationship Type="http://schemas.openxmlformats.org/officeDocument/2006/relationships/slide" Target="/ppt/slides/slide9.xml" Id="Re4fba696fa224bad" /><Relationship Type="http://schemas.openxmlformats.org/officeDocument/2006/relationships/slide" Target="/ppt/slides/slide10.xml" Id="R5e4527e82fed44fb" /><Relationship Type="http://schemas.openxmlformats.org/officeDocument/2006/relationships/slide" Target="/ppt/slides/slide11.xml" Id="R2c5236d9924547f9" /><Relationship Type="http://schemas.openxmlformats.org/officeDocument/2006/relationships/slide" Target="/ppt/slides/slide12.xml" Id="Rf624c47a44504965" /><Relationship Type="http://schemas.openxmlformats.org/officeDocument/2006/relationships/slide" Target="/ppt/slides/slide13.xml" Id="R86d1aedad75f4beb" /><Relationship Type="http://schemas.openxmlformats.org/officeDocument/2006/relationships/slide" Target="/ppt/slides/slide14.xml" Id="R4d49c09ca6264b5c" /><Relationship Type="http://schemas.openxmlformats.org/officeDocument/2006/relationships/slide" Target="/ppt/slides/slide15.xml" Id="Rc1d06a4a786443e2" /><Relationship Type="http://schemas.openxmlformats.org/officeDocument/2006/relationships/slide" Target="/ppt/slides/slide16.xml" Id="R74d96e4bb39c45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2dbc3948c445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d8b5de70094329" /><Relationship Type="http://schemas.openxmlformats.org/officeDocument/2006/relationships/notesMaster" Target="/ppt/notesMasters/notesMaster1.xml" Id="Rcf0d8cebc0dd4f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86eeefe5054196" /><Relationship Type="http://schemas.openxmlformats.org/officeDocument/2006/relationships/notesMaster" Target="/ppt/notesMasters/notesMaster1.xml" Id="R83992f92fc5749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731516748540f9" /><Relationship Type="http://schemas.openxmlformats.org/officeDocument/2006/relationships/notesMaster" Target="/ppt/notesMasters/notesMaster1.xml" Id="R823599d5620748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26d654cf674bfc" /><Relationship Type="http://schemas.openxmlformats.org/officeDocument/2006/relationships/notesMaster" Target="/ppt/notesMasters/notesMaster1.xml" Id="R97edc434c53e4c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045cd0dbe644e1" /><Relationship Type="http://schemas.openxmlformats.org/officeDocument/2006/relationships/notesMaster" Target="/ppt/notesMasters/notesMaster1.xml" Id="R47358831c98a43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0c5a32f22d4767" /><Relationship Type="http://schemas.openxmlformats.org/officeDocument/2006/relationships/notesMaster" Target="/ppt/notesMasters/notesMaster1.xml" Id="Rafc68ee9a9484a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759dfed2994ea3" /><Relationship Type="http://schemas.openxmlformats.org/officeDocument/2006/relationships/notesMaster" Target="/ppt/notesMasters/notesMaster1.xml" Id="Rf4c3ac5063564a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79348335954d86" /><Relationship Type="http://schemas.openxmlformats.org/officeDocument/2006/relationships/notesMaster" Target="/ppt/notesMasters/notesMaster1.xml" Id="R00032aa5efd441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7f28d796554ea1" /><Relationship Type="http://schemas.openxmlformats.org/officeDocument/2006/relationships/notesMaster" Target="/ppt/notesMasters/notesMaster1.xml" Id="Rb01e5083b6224e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56c882855a4037" /><Relationship Type="http://schemas.openxmlformats.org/officeDocument/2006/relationships/notesMaster" Target="/ppt/notesMasters/notesMaster1.xml" Id="R28009a4dcd2347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08b220fed4436c" /><Relationship Type="http://schemas.openxmlformats.org/officeDocument/2006/relationships/notesMaster" Target="/ppt/notesMasters/notesMaster1.xml" Id="Re40a7f8262a649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d36afecf0a4483" /><Relationship Type="http://schemas.openxmlformats.org/officeDocument/2006/relationships/notesMaster" Target="/ppt/notesMasters/notesMaster1.xml" Id="Rb7de4e3175864d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7be21fd3b54e35" /><Relationship Type="http://schemas.openxmlformats.org/officeDocument/2006/relationships/notesMaster" Target="/ppt/notesMasters/notesMaster1.xml" Id="R45226619adeb40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175a8e7166430a" /><Relationship Type="http://schemas.openxmlformats.org/officeDocument/2006/relationships/notesMaster" Target="/ppt/notesMasters/notesMaster1.xml" Id="R8c553fd4c177421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8b85c1d1cc4f47" /><Relationship Type="http://schemas.openxmlformats.org/officeDocument/2006/relationships/notesMaster" Target="/ppt/notesMasters/notesMaster1.xml" Id="R687c160dbfff4e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41f23027244492d" /><Relationship Type="http://schemas.openxmlformats.org/officeDocument/2006/relationships/notesMaster" Target="/ppt/notesMasters/notesMaster1.xml" Id="R0b72bd74d5f343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Introduce the project title, university context, and the main idea in one sentence.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/Users/bayshorecommunication/Desktop/Office/crh/campus-resource-hub-frontend/project-documentation/report/main.pdf</a:t>
            </a:r>
          </a:p>
          <a:p xmlns:a="http://schemas.openxmlformats.org/drawingml/2006/main">
            <a:r>
              <a:t>- /Users/bayshorecommunication/Desktop/Office/crh/campus-resource-hub-frontend/project-documentation/report/figures/university-logo.png</a:t>
            </a:r>
          </a:p>
          <a:p xmlns:a="http://schemas.openxmlformats.org/drawingml/2006/main">
            <a:r>
              <a:t>- /Users/bayshorecommunication/Desktop/Office/crh/campus-resource-hub-frontend/public/favicon.svg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Give a simple example of semantic search, then explain the four-stage retrieval flow and the visibility check that prevents unpublished content from leaking.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- Supervisor review screenshots: /var/folders/_y/1bg_zrxs0bb1r1652v_trcbc0000gn/T/codex-clipboard-62fc83a1-a95c-4cbc-9f99-5a5b58233f95.png; /var/folders/_y/1bg_zrxs0bb1r1652v_trcbc0000gn/T/codex-clipboard-46ebd2d0-32c1-47e8-bd2f-2a43eeaff988.png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Explain the everyday campus problem first, then point to the role-aware dashboard as the proposed answer. Treat the screenshot as a prototype, not adoption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/Users/bayshorecommunication/Desktop/Office/crh/campus-resource-hub-frontend/project-documentation/report/figures/dashboard.png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Introduce all three team members and the supervisor, then state the shared project goal.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/Users/bayshorecommunication/Desktop/Office/crh/campus-resource-hub-frontend/project-documentation/report/main.pdf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Walk from verified access to the role-aware dashboard, then explain the common create-scan-review-publish pattern and live updates.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/Users/bayshorecommunication/Desktop/Office/crh/campus-resource-hub-frontend/project-documentation/diagrams/system-workflow-documentation.txt</a:t>
            </a:r>
          </a:p>
          <a:p xmlns:a="http://schemas.openxmlformats.org/drawingml/2006/main">
            <a:r>
              <a:t>- /Users/bayshorecommunication/Desktop/Office/crh/campus-resource-hub-frontend/project-documentation/report/figures/workflow-diagram.pdf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- Current workflow diagram: /Users/bayshorecommunication/Desktop/Office/crh/campus-resource-hub-frontend/project-documentation/report/figures/workflow-diagram.pdf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Explain that OTP confirms e-mail ownership, JWT handles stateless sessions, and the same identity receives different capabilities based on role.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/Users/bayshorecommunication/Desktop/Office/crh/campus-resource-hub-frontend/project-documentation/report/figures/auth-login.png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Show the full resource journey: academic metadata, cloud storage, extraction, AI safety scan, human review when needed, then browsing and indexing.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/Users/bayshorecommunication/Desktop/Office/crh/campus-resource-hub-frontend/project-documentation/report/figures/resource-upload.png</a:t>
            </a:r>
          </a:p>
          <a:p xmlns:a="http://schemas.openxmlformats.org/drawingml/2006/main">
            <a:r>
              <a:t>- /Users/bayshorecommunication/Desktop/Office/crh/campus-resource-hub-frontend/project-documentation/report/figures/resource-browse.png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Use the announcement screen as a realistic example, then explain how events and clubs use structured participation rules inside the same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/Users/bayshorecommunication/Desktop/Office/crh/campus-resource-hub-frontend/project-documentation/report/figures/announcements.png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Emphasize the privacy choice: contact information is not public and appears only after an approved claim, while the post itself still goes through moderation.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/Users/bayshorecommunication/Desktop/Office/crh/campus-resource-hub-frontend/project-documentation/report/figures/lostfound.png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Explain how Socket.io supports direct and group conversations, delivery/seen receipts, and live notifications, while server-side membership checks protect every chat request.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/Users/bayshorecommunication/Desktop/Office/crh/campus-resource-hub-frontend/project-documentation/report/figures/chat.png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Give a simple example of semantic search, then explain the four-stage retrieval flow and the visibility check that prevents unpublished content from leaking.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  <a:p xmlns:a="http://schemas.openxmlformats.org/drawingml/2006/main">
            <a:r>
              <a:t>
[Sources]
- Local multilingual MiniLM embedding implementation: /Users/bayshorecommunication/Desktop/Office/crh/campus-resource-hub-backend/utils/embeddingService.js
- MongoDB Atlas vector-search implementation and deterministic fallbacks: /Users/bayshorecommunication/Desktop/Office/crh/campus-resource-hub-backend/utils/semanticSearch.js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Explain the three independently deployable tiers and how external e-mail, AI and storage services keep the application server focused on API and real-time logic.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/Users/bayshorecommunication/Desktop/Office/crh/campus-resource-hub-frontend/package.json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  <a:p xmlns:a="http://schemas.openxmlformats.org/drawingml/2006/main">
            <a:r>
              <a:t>
[Sources]
- Current OTP provider implementation (Gmail API via Google Cloud OAuth 2.0): /Users/bayshorecommunication/Desktop/Office/crh/campus-resource-hub-backend/utils/email.js
- Gmail OAuth setup helper: /Users/bayshorecommunication/Desktop/Office/crh/campus-resource-hub-backend/scripts/get-gmail-refresh-token.js
- Current backend Vercel configuration: /Users/bayshorecommunication/Desktop/Office/crh/campus-resource-hub-backend/vercel.json
- Vercel Function entry point: /Users/bayshorecommunication/Desktop/Office/crh/campus-resource-hub-backend/api/server.js
[/Sources]</a:t>
            </a:r>
          </a:p>
          <a:p xmlns:a="http://schemas.openxmlformats.org/drawingml/2006/main">
            <a:r>
              <a:t>
[Sources]
- Groq-led moderation provider chain and fail-safe behavior: /Users/bayshorecommunication/Desktop/Office/crh/campus-resource-hub-backend/utils/moderationService.js
- Human-review hold policy for incomplete or unavailable moderation: /Users/bayshorecommunication/Desktop/Office/crh/campus-resource-hub-backend/utils/moderationPolicy.js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Point to User as the central authorization record, then show how resource chunks and embeddings extend the normal campus-service schema for AI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/Users/bayshorecommunication/Desktop/Office/crh/campus-resource-hub-frontend/project-documentation/report/figures/erd-diagram.pdf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- Current 12-collection ERD: /Users/bayshorecommunication/Desktop/Office/crh/campus-resource-hub-frontend/project-documentation/report/figures/erd-diagram.pdf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Present these as reported verification results, not live production adoption metrics. Mention that the build, indexing and authorization checks all completed successfully.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Close by positioning the current build as department-scale, state the free-tier capacity and cost, and show a realistic path to campus-wide scale.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/Users/bayshorecommunication/Desktop/Office/crh/campus-resource-hub-frontend/project-documentation/diagrams/system-capacity-analysis.txt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cue: Thank the audience and invite questions about the project, implementation and next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/Users/bayshorecommunication/Desktop/Office/crh/campus-resource-hub-frontend/project-documentation/report/main.tex</a:t>
            </a:r>
          </a:p>
          <a:p xmlns:a="http://schemas.openxmlformats.org/drawingml/2006/main">
            <a:r>
              <a:t>- /Users/bayshorecommunication/Desktop/Office/crh/campus-resource-hub-frontend/project-documentation/report/figures/university-logo.png</a:t>
            </a:r>
          </a:p>
          <a:p xmlns:a="http://schemas.openxmlformats.org/drawingml/2006/main">
            <a:r>
              <a:t>- /Users/bayshorecommunication/Desktop/Office/crh/campus-resource-hub-frontend/public/favicon.svg</a:t>
            </a:r>
          </a:p>
          <a:p xmlns:a="http://schemas.openxmlformats.org/drawingml/2006/main">
            <a:r>
              <a:t>- https://slidesgo.com/theme/cellular-respiration-and-its-impact-on-health-research-thesis-defense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Project report and implementation evidence: /Users/bayshorecommunication/Desktop/Office/crh/campus-resource-hub-frontend/project-documentation/report/main.pdf
- NUB logo asset: /Users/bayshorecommunication/Desktop/Office/crh/campus-resource-hub-frontend/project-documentation/report/figures/university-logo.png
- NUB official brand reference: https://www.nub.ac.bd/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d8fa15c5b145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94bfc94015436f" /><Relationship Type="http://schemas.openxmlformats.org/officeDocument/2006/relationships/slideLayout" Target="/ppt/slideLayouts/slideLayout1.xml" Id="R4c4d966bf5844e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4d966bf5844e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4c3e4e5ee4bdb" /><Relationship Type="http://schemas.openxmlformats.org/officeDocument/2006/relationships/image" Target="/ppt/media/image.png" Id="R705c62780c344604" /><Relationship Type="http://schemas.openxmlformats.org/officeDocument/2006/relationships/image" Target="/ppt/media/image2.png" Id="R444556d30e59487c" /><Relationship Type="http://schemas.openxmlformats.org/officeDocument/2006/relationships/notesSlide" Target="/ppt/notesSlides/notesSlide1.xml" Id="R096ae174fe3c4b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e241f755b49b0" /><Relationship Type="http://schemas.openxmlformats.org/officeDocument/2006/relationships/image" Target="/ppt/media/image3.png" Id="R664606c815bd4ea1" /><Relationship Type="http://schemas.openxmlformats.org/officeDocument/2006/relationships/notesSlide" Target="/ppt/notesSlides/notesSlide2.xml" Id="R4d03bb4b31754e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36aba4b47406f" /><Relationship Type="http://schemas.openxmlformats.org/officeDocument/2006/relationships/image" Target="/ppt/media/image4.png" Id="R7d73a6384bb7452c" /><Relationship Type="http://schemas.openxmlformats.org/officeDocument/2006/relationships/image" Target="/ppt/media/image5.png" Id="Rf4a2f034c94b4792" /><Relationship Type="http://schemas.openxmlformats.org/officeDocument/2006/relationships/notesSlide" Target="/ppt/notesSlides/notesSlide3.xml" Id="Ra19e72b4ddd540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187c64e8e4ecf" /><Relationship Type="http://schemas.openxmlformats.org/officeDocument/2006/relationships/image" Target="/ppt/media/image6.png" Id="R30757800a25b482c" /><Relationship Type="http://schemas.openxmlformats.org/officeDocument/2006/relationships/notesSlide" Target="/ppt/notesSlides/notesSlide4.xml" Id="R7145f4adb96940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d8f16d05b4940" /><Relationship Type="http://schemas.openxmlformats.org/officeDocument/2006/relationships/image" Target="/ppt/media/image7.png" Id="R83e0152a79d54677" /><Relationship Type="http://schemas.openxmlformats.org/officeDocument/2006/relationships/image" Target="/ppt/media/image8.png" Id="R2a647bda19c946e3" /><Relationship Type="http://schemas.openxmlformats.org/officeDocument/2006/relationships/notesSlide" Target="/ppt/notesSlides/notesSlide5.xml" Id="Ref1ac08a664e4d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5f9a9f6eb4d51" /><Relationship Type="http://schemas.openxmlformats.org/officeDocument/2006/relationships/image" Target="/ppt/media/image9.png" Id="Rc378fad29165404c" /><Relationship Type="http://schemas.openxmlformats.org/officeDocument/2006/relationships/image" Target="/ppt/media/image10.png" Id="R2870ccdfac174ee7" /><Relationship Type="http://schemas.openxmlformats.org/officeDocument/2006/relationships/notesSlide" Target="/ppt/notesSlides/notesSlide6.xml" Id="R1e95be6e87d846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ebd3fdbdd4dd7" /><Relationship Type="http://schemas.openxmlformats.org/officeDocument/2006/relationships/image" Target="/ppt/media/image11.png" Id="R9def1abfd41f4a2b" /><Relationship Type="http://schemas.openxmlformats.org/officeDocument/2006/relationships/image" Target="/ppt/media/image12.png" Id="R97a01bfb480747d7" /><Relationship Type="http://schemas.openxmlformats.org/officeDocument/2006/relationships/image" Target="/ppt/media/image13.png" Id="R4253ec1fa74e40aa" /><Relationship Type="http://schemas.openxmlformats.org/officeDocument/2006/relationships/notesSlide" Target="/ppt/notesSlides/notesSlide7.xml" Id="R4a0da1c73d364e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81f835da546e1" /><Relationship Type="http://schemas.openxmlformats.org/officeDocument/2006/relationships/image" Target="/ppt/media/image14.png" Id="R3753354edaa7415c" /><Relationship Type="http://schemas.openxmlformats.org/officeDocument/2006/relationships/image" Target="/ppt/media/image15.png" Id="Ref8ede7e75024c76" /><Relationship Type="http://schemas.openxmlformats.org/officeDocument/2006/relationships/notesSlide" Target="/ppt/notesSlides/notesSlide8.xml" Id="R9f35538ff74742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04e69257b44fc" /><Relationship Type="http://schemas.openxmlformats.org/officeDocument/2006/relationships/image" Target="/ppt/media/image16.png" Id="R78d78364f6dc436c" /><Relationship Type="http://schemas.openxmlformats.org/officeDocument/2006/relationships/image" Target="/ppt/media/image17.png" Id="R099f86701f45445a" /><Relationship Type="http://schemas.openxmlformats.org/officeDocument/2006/relationships/notesSlide" Target="/ppt/notesSlides/notesSlide9.xml" Id="R0e29a94df6b441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8f52fc69c43ee" /><Relationship Type="http://schemas.openxmlformats.org/officeDocument/2006/relationships/image" Target="/ppt/media/image18.png" Id="R230859975e3c4ab5" /><Relationship Type="http://schemas.openxmlformats.org/officeDocument/2006/relationships/image" Target="/ppt/media/image19.png" Id="R1ac92ed0cfe14aa7" /><Relationship Type="http://schemas.openxmlformats.org/officeDocument/2006/relationships/notesSlide" Target="/ppt/notesSlides/notesSlide10.xml" Id="Recc27fd924eb4f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df5393e8a4ab2" /><Relationship Type="http://schemas.openxmlformats.org/officeDocument/2006/relationships/image" Target="/ppt/media/image20.png" Id="R5bf37568da8344d3" /><Relationship Type="http://schemas.openxmlformats.org/officeDocument/2006/relationships/notesSlide" Target="/ppt/notesSlides/notesSlide11.xml" Id="R14e0cc84d33c4c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ff2002aab4687" /><Relationship Type="http://schemas.openxmlformats.org/officeDocument/2006/relationships/image" Target="/ppt/media/image21.png" Id="Rbe2214506edf4c17" /><Relationship Type="http://schemas.openxmlformats.org/officeDocument/2006/relationships/notesSlide" Target="/ppt/notesSlides/notesSlide12.xml" Id="Ra24e2c946b6c4d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23359b3cb41bd" /><Relationship Type="http://schemas.openxmlformats.org/officeDocument/2006/relationships/image" Target="/ppt/media/image22.png" Id="R5c7b028904db43a6" /><Relationship Type="http://schemas.openxmlformats.org/officeDocument/2006/relationships/image" Target="/ppt/media/image23.png" Id="R4099a81c3d244e0b" /><Relationship Type="http://schemas.openxmlformats.org/officeDocument/2006/relationships/notesSlide" Target="/ppt/notesSlides/notesSlide13.xml" Id="R907e40d18de24b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6d47f5aeb49a7" /><Relationship Type="http://schemas.openxmlformats.org/officeDocument/2006/relationships/image" Target="/ppt/media/image24.png" Id="R09cd51fa1fad423c" /><Relationship Type="http://schemas.openxmlformats.org/officeDocument/2006/relationships/notesSlide" Target="/ppt/notesSlides/notesSlide14.xml" Id="Re2b5f8bfc84544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45cebddf642bf" /><Relationship Type="http://schemas.openxmlformats.org/officeDocument/2006/relationships/image" Target="/ppt/media/image25.png" Id="R7b640774d9a1479a" /><Relationship Type="http://schemas.openxmlformats.org/officeDocument/2006/relationships/notesSlide" Target="/ppt/notesSlides/notesSlide15.xml" Id="R41cc03dfe3e8429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4c69c369842a8" /><Relationship Type="http://schemas.openxmlformats.org/officeDocument/2006/relationships/image" Target="/ppt/media/image26.png" Id="R5afa7a2eba0a43ea" /><Relationship Type="http://schemas.openxmlformats.org/officeDocument/2006/relationships/image" Target="/ppt/media/image27.png" Id="R2ddf4c0ae5c04e90" /><Relationship Type="http://schemas.openxmlformats.org/officeDocument/2006/relationships/notesSlide" Target="/ppt/notesSlides/notesSlide16.xml" Id="R77339885ecc145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2CFA4-32F5-4AAF-A235-067A50B2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0"/>
            <a:ext cx="11430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0E527-C1F5-4BE0-9EE4-F182A27E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66800" cy="1028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6A7B4-BD4A-4BE9-B714-5197E5B2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FAFE3-C617-4D93-A4BA-9CAE9D8F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73E86-AAF8-4C4A-90E5-E8A71E51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1981200" cy="2762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CB562-2A4C-406F-ABC9-97F8B140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334000"/>
            <a:ext cx="20002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07502-7C24-447B-A04D-F3FC52D3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10125"/>
            <a:ext cx="1504950" cy="1504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A142BA-9B82-4FF2-AD66-9634B369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86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c62780c344604"/>
          <a:stretch xmlns:a="http://schemas.openxmlformats.org/drawingml/2006/main"/>
        </p:blipFill>
        <p:spPr>
          <a:xfrm xmlns:a="http://schemas.openxmlformats.org/drawingml/2006/main">
            <a:off x="10715625" y="327174"/>
            <a:ext cx="685800" cy="812502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8961C-CF80-43D4-A34D-9726A7A5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PROJECT PRESENTATION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6B2A9-00B6-4016-BC11-F479683D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19300"/>
            <a:ext cx="8001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Campus Resource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5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46847-71FF-4B9B-B324-F2B8CD07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57625"/>
            <a:ext cx="704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20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A centralized web platform for academic resource sharing with AI-powered moderation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F4D879-145D-4EE2-BA83-91AF9494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578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Department of Computer Science &amp; Engineering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Northern University Bangladesh  •  August 2026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556d30e59487c"/>
          <a:stretch xmlns:a="http://schemas.openxmlformats.org/drawingml/2006/main"/>
        </p:blipFill>
        <p:spPr>
          <a:xfrm xmlns:a="http://schemas.openxmlformats.org/drawingml/2006/main">
            <a:off x="10287000" y="5286375"/>
            <a:ext cx="1066800" cy="1066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92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A00546-EA18-419E-B2AA-DAADB268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D716E-C070-4D4C-A650-46BE6082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808DF-CBD2-4F75-A181-AF08106D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B9357-F236-4E68-93C2-67158568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3502D-95D6-4B70-A0AE-C2F85E84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E7E81-64AF-47E2-B215-9BC67303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B43A0-AAB4-4A44-BC19-31B5DB00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Problems in existing campus systems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1FD74-2190-4029-810E-C661C203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5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“Information is scattered, hard to verify and easy to lose.”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3829E-E7DC-4508-8BEA-22497A72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76375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4 GAPS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DDE58-729F-4ACF-B5F9-23D3DD7A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across resources, campus updates, lost items and shared content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37F62F-AD1C-4971-A4C7-484B4045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D0256-BB46-4ADF-9864-FA21650B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72C60-3315-445E-AFA7-8C6E2D3C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95511-377E-4409-89E6-8D72AFF7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Scattered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C034F-4AC9-4BC5-B92B-E79D7239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Files disappear in chat groups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1AF508-A19D-4751-8D23-FC1BD64D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5552A-F396-4584-B190-86C7AB7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3C264-9895-4DA0-A22A-9460D9B2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A4815-4931-405B-BF41-FA15FA2E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B85B2-93F1-46FD-B84E-F60C168D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Limited reach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E06CC7-3360-49FA-9923-0BC46977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Updates reach only part of campus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68033D-0745-4963-81ED-64F2BF4F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89050D-3327-4595-83F9-B5F53C75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6AFDCE-CACF-494F-B45F-96A7002B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DB2A8C-D141-46F0-A517-8EDBEE56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A58145-CF1C-4126-9D93-0E47C8B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Unsafe claims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D54001-DE38-463E-B4A5-3FCFAF44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Lost-item claims expose contact details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042F5-293E-4581-BBC9-95D3129F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F3F29B-358F-468B-A4D7-FBAB82BB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EB245B-B05D-4F5D-BBE8-8CD6604D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033511-AC3C-470F-8390-33702F32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88709B-6678-4A36-92CB-4AEA8BB7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Weak controls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C7C09-C350-430E-BB16-AEF0539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No moderation or reliable 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CE3D15-65F2-4547-8D54-09DADFB8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150"/>
            <a:ext cx="100965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31DAD9-A52C-4B47-B6BA-8B26821B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1502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Existing tools do not provide one searchable, role-aware campus workflow.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606c815bd4ea1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84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658F7-AFC8-41DE-AF32-CE5266CC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93E55-4790-4BE6-9EDE-055A29ED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522DB-98BD-424A-AD3E-ADBFEF73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5B1C9-81F6-4C36-906B-B88F7801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07B1B-6270-4672-8C9D-2357DC00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E9E3F-CF89-41E3-9725-0252BB69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7C8C7-5B60-4EC3-A651-E0E66EA8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82821-8AFF-4CE5-AB20-B254D069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89746-DEEE-401E-9ED2-ED9B328E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Proposed solution: one verified campus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49C71F-100A-4F05-B615-3E3227E8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905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12000"/>
              </a:lnSpc>
              <a:spcAft>
                <a:spcPts val="12"/>
              </a:spcAft>
              <a:buNone/>
              <a:def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Reviewed resources stay organized and searchable.</a:t>
            </a:r>
          </a:p>
          <a:p xmlns:a="http://schemas.openxmlformats.org/drawingml/2006/main">
            <a:pPr marL="22" indent="-12" algn="l">
              <a:lnSpc>
                <a:spcPct val="112000"/>
              </a:lnSpc>
              <a:spcAft>
                <a:spcPts val="12"/>
              </a:spcAft>
              <a:buNone/>
              <a:def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Announcements, events and clubs share one live feed.</a:t>
            </a:r>
          </a:p>
          <a:p xmlns:a="http://schemas.openxmlformats.org/drawingml/2006/main">
            <a:pPr marL="22" indent="-12" algn="l">
              <a:lnSpc>
                <a:spcPct val="112000"/>
              </a:lnSpc>
              <a:spcAft>
                <a:spcPts val="12"/>
              </a:spcAft>
              <a:buNone/>
              <a:def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Private claims protect lost-and-found contact details.</a:t>
            </a:r>
          </a:p>
          <a:p xmlns:a="http://schemas.openxmlformats.org/drawingml/2006/main">
            <a:pPr marL="22" indent="-12" algn="l">
              <a:lnSpc>
                <a:spcPct val="112000"/>
              </a:lnSpc>
              <a:spcAft>
                <a:spcPts val="12"/>
              </a:spcAft>
              <a:buNone/>
              <a:def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Chat, semantic search and notifications connect every workflow.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3647D-9899-4A59-8BBD-1FF61860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CRH brings these workflows into one verified campus hub.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D0CF8B-620E-4B62-9BCD-4B1C3D2C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476375"/>
            <a:ext cx="6810375" cy="3762375"/>
          </a:xfrm>
          <a:prstGeom xmlns:a="http://schemas.openxmlformats.org/drawingml/2006/main" prst="roundRect">
            <a:avLst>
              <a:gd name="adj" fmla="val 4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3a6384bb7452c"/>
          <a:srcRect xmlns:a="http://schemas.openxmlformats.org/drawingml/2006/main" l="350" t="0" r="3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524000"/>
            <a:ext cx="6715125" cy="3667125"/>
          </a:xfrm>
          <a:prstGeom xmlns:a="http://schemas.openxmlformats.org/drawingml/2006/main" prst="roundRect">
            <a:avLst>
              <a:gd name="adj" fmla="val 415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F3EDF7-5A1B-401F-8CE8-3AABE464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34000"/>
            <a:ext cx="671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 i="1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1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Prototype dashboard captured during project testing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CD43C1-50FB-4145-A689-4149A710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791200"/>
            <a:ext cx="6715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B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908F1-96B1-418B-A099-802FB96E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924550"/>
            <a:ext cx="671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One secure place to discover, communicate and act through role-aware workflows.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2f034c94b4792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129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8FEDE3-AAAF-4270-B4DC-379765AA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48BC1-1237-4C24-B332-3D220AF3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C7259-7741-4013-97F7-600ACA1B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5087C-BFA1-4923-AB7D-60F13C3B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4B34E-4453-4135-918E-EDF1AD80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7DBA5-2D5F-4B70-990A-C1E7EC91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8045B-06C8-4DEA-A459-64876070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62331-05D8-4B3A-9DB8-BADAB160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23647-0F2F-4C9E-97FD-904B60C8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Meet the project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13D49-4CD8-467A-A951-8BB8D722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rPr>
              <a:t>PROJECT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D6CDCB-FC7D-4424-9DEF-48D50B4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4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Build one secure, searchable and real-time platform for academic resources and daily campus coordination.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FD478-6F4C-4961-B0F5-B9CF5E8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3B8E4-547D-4435-972B-4853703E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Akib Rayhan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FEE07-8EE6-417B-84E1-19E40BD9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ID 42230200858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A7D49D-A7D2-4CA6-BDC2-2C9C8CEE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5275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9A8CEB-999F-4F5F-841B-BB7D83C5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4800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98461-F7B1-4C89-BD5D-C35576FA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67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Rakibul Hasan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0A844-E567-41EA-9772-059337F4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910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ID 42230200859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B9BA7E-A10D-43DC-91C9-A7F80834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B42DA-55B9-4FFA-AC38-5A198E93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D8068-57B3-4E2E-AA91-DA2082FD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67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Mahdi Hasan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128FA6-DB3F-45EF-AD2C-0B0A2456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ID 42230200717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F8128-08F3-40CF-B106-CB2F5B26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6680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8F9AAD-9095-4AF0-B4EE-2893E308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29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Supervisor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BC4319-C1B2-45A7-A36E-D31ED02B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245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Tanmoy Mazumder, Lecturer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FD71C2-EC15-41E6-887B-E5FBDAED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626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Department of Computer Science &amp; Engineering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57800a25b482c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721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7967F-01E9-4899-9337-C093B2C9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95CC6-3067-472D-A18F-0FF84BCC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9AE37-65B2-45EC-94BA-0ADB212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E87A6-BFD7-412B-962D-D444A582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5C57C-3CD4-49C9-A6BD-04B330DC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876A7-42E3-4DB9-87CA-58A7D6B2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752DF-88AF-400B-A9E3-953213B7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114D4-4554-41D5-A39B-2789214F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3A0368-CFD7-4794-9AAD-49C0AD08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Verified access connects every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5E25C5-5603-42D6-AF46-2403421B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3143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OTP verification and JWT login route every user to a role-aware dashboard.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E9E42-5359-4E3E-A2ED-EF884AB6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3143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4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Resources</a:t>
            </a: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 follow fail-safe moderation.</a:t>
            </a:r>
          </a:p>
          <a:p xmlns:a="http://schemas.openxmlformats.org/drawingml/2006/main">
            <a:pPr marL="22" indent="-12" algn="l">
              <a:lnSpc>
                <a:spcPct val="104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Campus services</a:t>
            </a: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 enforce role and ownership rules.</a:t>
            </a:r>
          </a:p>
          <a:p xmlns:a="http://schemas.openxmlformats.org/drawingml/2006/main">
            <a:pPr marL="22" indent="-12" algn="l">
              <a:lnSpc>
                <a:spcPct val="104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Notifications</a:t>
            </a: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 update through Socket.io.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C2411-B687-45C2-A38B-1D2EBF47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0"/>
            <a:ext cx="3143250" cy="914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13191A-6A58-40A8-B9F5-AC241537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JWT, role, ownership and publication visibility are checked again on protected requests.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0152a79d54677"/>
          <a:stretch xmlns:a="http://schemas.openxmlformats.org/drawingml/2006/main"/>
        </p:blipFill>
        <p:spPr>
          <a:xfrm xmlns:a="http://schemas.openxmlformats.org/drawingml/2006/main">
            <a:off x="4418057" y="1352550"/>
            <a:ext cx="6784886" cy="50006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47bda19c946e3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265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69A74B-A9C6-4C9D-BF96-0BB49635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E2E2C-6296-4F0F-BE9D-5FDB170E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1B790-3B0F-4156-BE82-1E42247C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9AFA5-BF9C-4855-AE4F-13EAC90D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42E79-EFB8-4B41-91A5-4BA38258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F66B1-4509-4F47-AF59-9B50F409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74D5-58A7-4B55-B16B-7E7B018C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428BD-221B-496A-84B1-7C4D24FB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DC530-437E-4299-9C22-D2EB4F52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Access depends on identity and 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94888-4A44-4806-9838-01C03D14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571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Signup → e-mail OTP → account creation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Login → signed JWT → role-aware 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54EAB-F30F-4C55-AFAE-E61D60FC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952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FBA736-455C-4466-A234-BBE6961E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Student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17794-BA10-4AC4-A72C-47363BD8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0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Browse, upload, RSVP, join clubs, chat, claim items and manage a profile.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5755A-D786-4887-B77A-D1734787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952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2C829-A8B4-47D4-89E4-B1A44F0D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Moderator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182395-666F-4A4C-AA27-D3C94CF1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Review content, create campus updates and manage community safety.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55A788-FB37-4085-9636-32A7B299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952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52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89FA0F-3479-4604-BB96-1F747EA7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Admin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25AE0-1333-4923-9153-DAA12315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Manage roles and users, and view platform-wide controls.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A31291-3ED3-4AFE-9CCB-69077E62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33500"/>
            <a:ext cx="4667250" cy="4905375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8fad29165404c"/>
          <a:srcRect xmlns:a="http://schemas.openxmlformats.org/drawingml/2006/main" l="24164" t="0" r="2416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381125"/>
            <a:ext cx="4572000" cy="4810125"/>
          </a:xfrm>
          <a:prstGeom xmlns:a="http://schemas.openxmlformats.org/drawingml/2006/main" prst="roundRect">
            <a:avLst>
              <a:gd name="adj" fmla="val 3750"/>
            </a:avLst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0ccdfac174ee7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7681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1AEC6F-D83D-438E-A111-251AD7DC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47DE6-7606-4C95-B51E-1B294AE3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E9CDC8-643E-4C25-9DC2-4E7A67C7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AFC22-1D3E-4693-BB87-4C0D5445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8DAF1-6816-499A-947F-3E72D656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DFA3E-F730-4458-A183-859A42AC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ACBF7E-4702-42E4-A5F3-C4804934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02611-F42B-46E6-AA01-3EB04F86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C8614-F7A5-4380-B181-4F00CCA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Every resource is checked before publication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99396-4AE1-46B1-A932-67E044CC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rPr>
              <a:t>UPLOAD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88F82-BBA3-40B3-A8F1-8EA3240E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52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A2490-95EB-4108-977A-820E6649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09725"/>
            <a:ext cx="5429250" cy="2990850"/>
          </a:xfrm>
          <a:prstGeom xmlns:a="http://schemas.openxmlformats.org/drawingml/2006/main" prst="roundRect">
            <a:avLst>
              <a:gd name="adj" fmla="val 50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f1abfd41f4a2b"/>
          <a:stretch xmlns:a="http://schemas.openxmlformats.org/drawingml/2006/main"/>
        </p:blipFill>
        <p:spPr>
          <a:xfrm xmlns:a="http://schemas.openxmlformats.org/drawingml/2006/main">
            <a:off x="533400" y="1658884"/>
            <a:ext cx="5334000" cy="2892532"/>
          </a:xfrm>
          <a:prstGeom xmlns:a="http://schemas.openxmlformats.org/drawingml/2006/main" prst="roundRect">
            <a:avLst>
              <a:gd name="adj" fmla="val 4605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6AA654-F78F-4657-90D0-A1A24D0B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609725"/>
            <a:ext cx="5429250" cy="2990850"/>
          </a:xfrm>
          <a:prstGeom xmlns:a="http://schemas.openxmlformats.org/drawingml/2006/main" prst="roundRect">
            <a:avLst>
              <a:gd name="adj" fmla="val 50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01bfb480747d7"/>
          <a:stretch xmlns:a="http://schemas.openxmlformats.org/drawingml/2006/main"/>
        </p:blipFill>
        <p:spPr>
          <a:xfrm xmlns:a="http://schemas.openxmlformats.org/drawingml/2006/main">
            <a:off x="6324600" y="1658884"/>
            <a:ext cx="5334000" cy="2892532"/>
          </a:xfrm>
          <a:prstGeom xmlns:a="http://schemas.openxmlformats.org/drawingml/2006/main" prst="roundRect">
            <a:avLst>
              <a:gd name="adj" fmla="val 4605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9CA9E0-0423-4BB3-AA9B-E8CB72C9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7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Upload  →  extract &amp; scan  →  review if needed  →  publish &amp; index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ACF868-D6E0-4BDF-9BE8-95756E29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B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1E18B-0863-4DF2-81D1-C1CF994D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Supported: PDF, DOCX, PPTX, XLSX and images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080D4-2F55-4DD1-87C9-89B0CCC5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43550"/>
            <a:ext cx="561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Flagged, partially inspected or provider-unavailable files stay unpublished for human review.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3ec1fa74e40aa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9095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7045A-BD68-46A7-9253-F4BFF0D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24C9D-1E74-4777-9A2F-DE1A68C2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85F389-FDCB-46AA-BCAD-7E578C49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B3742-43C0-4871-B71C-F7F7306F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20234-015F-4968-860F-006C343C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A06B8-B7BD-4D9A-90E2-3BABBCBD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E1049-8289-4239-99D1-226CBFE8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63CF77-CA4F-4DC7-807B-7CB77680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1DBBF-2159-423D-9F74-2E1C738B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Campus updates should not get lost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4F9C3-A2C1-4D87-A22D-71A49B6A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57325"/>
            <a:ext cx="6953250" cy="381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53354edaa7415c"/>
          <a:stretch xmlns:a="http://schemas.openxmlformats.org/drawingml/2006/main"/>
        </p:blipFill>
        <p:spPr>
          <a:xfrm xmlns:a="http://schemas.openxmlformats.org/drawingml/2006/main">
            <a:off x="537290" y="1504950"/>
            <a:ext cx="6850220" cy="3714750"/>
          </a:xfrm>
          <a:prstGeom xmlns:a="http://schemas.openxmlformats.org/drawingml/2006/main" prst="roundRect">
            <a:avLst>
              <a:gd name="adj" fmla="val 359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B5CC9-7D55-4D7B-B1A3-9461B220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45BEB2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45BEB2"/>
                </a:solidFill>
                <a:latin typeface="Avenir Next"/>
                <a:ea typeface="Avenir Next"/>
                <a:cs typeface="Avenir Next"/>
              </a:rPr>
              <a:t>ANNOUNCEMENTS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07F8E8-E859-41E1-8AC9-0BF9D399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66900"/>
            <a:ext cx="3619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Priority, scheduled publishing, expiry, attachments and read tracking.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BE2BF-20AA-4A87-AEC1-2F482029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813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55CDFA-381B-46B3-8251-EB9B991C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28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rPr>
              <a:t>EVENTS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3F6A2-4700-41AA-8AD2-2DC9F3A1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9090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Going / maybe / declined RSVP, capacity limits, calendar view and cancellation notices.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D6E0B-65CF-49E2-8682-A8B36BDB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3865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47341-AD84-4331-B332-90C1D494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86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rPr>
              <a:t>CLUBS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8E458F-F8BD-44A1-A70A-7556458B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048250"/>
            <a:ext cx="361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Open or request-based joining, with member and officer roles.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60353-678D-4F6D-A5B2-6D8125E7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One feed replaces scattered notices while keeping participation workflows structured.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ede7e75024c76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547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ADD37F-7112-4A72-AF17-397BDAC7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1B651-7CEB-490A-B5D0-6249D408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D0C89E-2075-4DBB-86BC-1BD0B81E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B7F18-8F08-4836-A78E-99E51334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7A81F-18D2-4E68-884A-2B41ECD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1D3FB-88C0-4F27-85B5-444DEE79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B7DD3-8652-4F1B-B53A-6BFC500A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7AE8F-6258-47E6-9DB4-365841B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AD127-E897-4198-B9A6-D4461A0F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Lost-and-found protects contact details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FAD84-A3D4-403A-AD1D-999E59AD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665D0-FC20-4BB9-80B4-DE060099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48686-1E74-4239-A5B0-70227A1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495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Post an item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9BF08-03F1-4087-82B1-4DC90C96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28800"/>
            <a:ext cx="304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Add a lost/found description, location and photo.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BD39C-6267-4E42-877D-84CEBAE0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52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E8ECB-248C-4425-8D6E-BDB5A685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F1A0E-0248-4B0D-82AC-E5822C05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Keep contact private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8E8C5-CAFC-4D2F-BFD8-534FDD1B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304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Personal contact information stays hidden.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393CC-4864-408B-B82A-CEA6F9AC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3A64C-9A67-4AF5-AF85-DBACBFA2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B0B9C-8F07-4B70-9FD4-70517994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Review the claim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8361E-4765-4759-B2A5-58F051FA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304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The poster or moderator approves or rejects 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D23D3E-3A96-48B4-8527-DFA28250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2D98E4-9326-4ED1-BA99-F8BA8824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767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9B5D63-618C-4665-BA8D-B07C096D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Reveal after approval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A7C3E6-B664-42AF-9DE7-A6611CFC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14900"/>
            <a:ext cx="304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Only the approved claimant can see contact details.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4AEA7-B89E-4879-8EF1-1B46A579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Open  →  Claimed  →  Resolved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5BC316-0849-41DE-BC8D-5D47E797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28750"/>
            <a:ext cx="7143750" cy="39243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78364f6dc436c"/>
          <a:stretch xmlns:a="http://schemas.openxmlformats.org/drawingml/2006/main"/>
        </p:blipFill>
        <p:spPr>
          <a:xfrm xmlns:a="http://schemas.openxmlformats.org/drawingml/2006/main">
            <a:off x="4572000" y="1479763"/>
            <a:ext cx="7048500" cy="3822274"/>
          </a:xfrm>
          <a:prstGeom xmlns:a="http://schemas.openxmlformats.org/drawingml/2006/main" prst="roundRect">
            <a:avLst>
              <a:gd name="adj" fmla="val 3483"/>
            </a:avLst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099DA6-271F-4C56-BDD7-1E81F3C4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72125"/>
            <a:ext cx="666750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B923C1-56AA-4DE8-B4A5-7FDBD3B2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743575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The same safety scan applies before a post becomes visible.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f86701f45445a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21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D12D8-538E-459D-B583-F11243A4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A24A1-9188-47ED-A729-45B974A7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82F75A-6C85-42E1-A650-591DD3A1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EC385-AA9E-4B65-A999-4FE6BD47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40E28-53F5-41E0-AA9D-36FA16C3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94855-5137-474B-8B90-95095448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2781B-C025-4028-AEF0-0F686B5E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C7D68-F192-4C41-8159-1FA5377C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D4AAB-8C1B-4FCC-A525-FE00C13E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Real-time chat keeps coordination moving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90324-5494-4B46-9D12-6B56E5E4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Direct + 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21ABA-E549-4DB6-8C4B-6ED2B5FE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Conversations, replies, edits and attachments.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25457D-E2B4-4C3A-91FE-79A8B0F7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3811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Delivery + seen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F2BB5-0F47-423B-9C4F-E10E91F8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526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Per-user delivery and read status.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6840F-37C7-442C-B1C7-59B01EFB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Live notifications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0CCF4-B952-4ACD-9BE7-F371F8F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Messages and important actions update instantly.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D8B83-218E-4CE6-A272-38ADB145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0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51BF88-F099-47AF-9558-62D6BEF4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28750"/>
            <a:ext cx="0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FEF0E2-8F00-42E7-8FB1-75A9427D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371725"/>
            <a:ext cx="8001000" cy="4143375"/>
          </a:xfrm>
          <a:prstGeom xmlns:a="http://schemas.openxmlformats.org/drawingml/2006/main" prst="roundRect">
            <a:avLst>
              <a:gd name="adj" fmla="val 36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3E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859975e3c4ab5"/>
          <a:stretch xmlns:a="http://schemas.openxmlformats.org/drawingml/2006/main"/>
        </p:blipFill>
        <p:spPr>
          <a:xfrm xmlns:a="http://schemas.openxmlformats.org/drawingml/2006/main">
            <a:off x="2363509" y="2419350"/>
            <a:ext cx="7464983" cy="4048125"/>
          </a:xfrm>
          <a:prstGeom xmlns:a="http://schemas.openxmlformats.org/drawingml/2006/main" prst="roundRect">
            <a:avLst>
              <a:gd name="adj" fmla="val 3294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92ed0cfe14aa7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4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A00546-EA18-419E-B2AA-DAADB268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D716E-C070-4D4C-A650-46BE6082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808DF-CBD2-4F75-A181-AF08106D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B9357-F236-4E68-93C2-67158568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3502D-95D6-4B70-A0AE-C2F85E84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E7E81-64AF-47E2-B215-9BC67303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B43A0-AAB4-4A44-BC19-31B5DB00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Search by meaning—not just keywords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1FD74-2190-4029-810E-C661C203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5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“Find exam preparation notes even when the title uses different words.”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3829E-E7DC-4508-8BEA-22497A72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76375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384-D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DDE58-729F-4ACF-B5F9-23D3DD7A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Local multilingual MiniLM embeddings with MongoDB Atlas Vector Search.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37F62F-AD1C-4971-A4C7-484B4045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D0256-BB46-4ADF-9864-FA21650B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72C60-3315-445E-AFA7-8C6E2D3C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95511-377E-4409-89E6-8D72AFF7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Content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C034F-4AC9-4BC5-B92B-E79D7239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Titles, bodies and file passages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1AF508-A19D-4751-8D23-FC1BD64D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5552A-F396-4584-B190-86C7AB7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3C264-9895-4DA0-A22A-9460D9B2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A4815-4931-405B-BF41-FA15FA2E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B85B2-93F1-46FD-B84E-F60C168D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Embedding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E06CC7-3360-49FA-9923-0BC46977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Multilingual MiniLM vector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68033D-0745-4963-81ED-64F2BF4F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89050D-3327-4595-83F9-B5F53C75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6AFDCE-CACF-494F-B45F-96A7002B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DB2A8C-D141-46F0-A517-8EDBEE56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A58145-CF1C-4126-9D93-0E47C8B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Vector 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D54001-DE38-463E-B4A5-3FCFAF44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MongoDB Atlas ranking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042F5-293E-4581-BBC9-95D3129F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F3F29B-358F-468B-A4D7-FBAB82BB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147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EB245B-B05D-4F5D-BBE8-8CD6604D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52825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3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033511-AC3C-470F-8390-33702F32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33875"/>
            <a:ext cx="20955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8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88709B-6678-4A36-92CB-4AEA8BB7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95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AI answer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C7C09-C350-430E-BB16-AEF0539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24425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Numbered, clickable sources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CE3D15-65F2-4547-8D54-09DADFB8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150"/>
            <a:ext cx="100965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31DAD9-A52C-4B47-B6BA-8B26821B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1502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CRH re-checks approval, ownership and role visibility before showing results.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37568da8344d3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84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743243-FE0B-4D32-AB5E-52060C3C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FC96E-86FA-4F2C-AF0E-ED674E37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EF221-1BEF-47AB-B99D-C0A6D89C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F8B2F-EECA-40E5-B830-A6A841AE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2F594-4CEC-4E1C-B055-2534D409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FF9C4-3F19-49E1-9138-F9CA614E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CD75D-B1E3-4338-9103-AE14C32A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74BF4-B62D-4CB1-852A-E817DCC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E007B-E285-4EBB-8D59-ECBE8A4E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A three-tier stack keeps CRH maintainable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7D4CE-1253-417A-AADD-066D678C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3143250" cy="1952625"/>
          </a:xfrm>
          <a:prstGeom xmlns:a="http://schemas.openxmlformats.org/drawingml/2006/main" prst="roundRect">
            <a:avLst>
              <a:gd name="adj" fmla="val 78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8CA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903D2-6F69-424A-A268-22D3DF83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18CA5"/>
                </a:solidFill>
                <a:latin typeface="Avenir Next"/>
                <a:ea typeface="Avenir Next"/>
                <a:cs typeface="Avenir Next"/>
              </a:rPr>
              <a:t>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52953-2753-40AE-A946-E0B67E49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React + Vite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B99A4-ACB7-4462-A001-5DC9135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647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Single-page application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Protected, responsive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416C5-D976-463A-BFBE-15A02512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00300"/>
            <a:ext cx="495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2635B-5872-4341-9D16-A48CCABB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952625"/>
          </a:xfrm>
          <a:prstGeom xmlns:a="http://schemas.openxmlformats.org/drawingml/2006/main" prst="roundRect">
            <a:avLst>
              <a:gd name="adj" fmla="val 78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648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56C7D-585E-4C7D-AE01-F97E7588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9812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06483"/>
                </a:solidFill>
                <a:latin typeface="Avenir Next"/>
                <a:ea typeface="Avenir Next"/>
                <a:cs typeface="Avenir Next"/>
              </a:rPr>
              <a:t>APPLICATION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B5205-7E1B-4A01-8146-CB46A04E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343150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Node.js + Express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FB9D05-7634-49D8-A70C-B2F76664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105150"/>
            <a:ext cx="2647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REST API + Socket.io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Business rules and live updates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6C2D3-371A-40D2-967B-CF812EF5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400300"/>
            <a:ext cx="495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B8D8D6"/>
                </a:solidFill>
                <a:latin typeface="Arial Rounded MT Bold"/>
                <a:ea typeface="Arial Rounded MT Bold"/>
                <a:cs typeface="Arial Rounded MT Bold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7BAD0-AD62-46CE-B083-7EC84176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3143250" cy="1952625"/>
          </a:xfrm>
          <a:prstGeom xmlns:a="http://schemas.openxmlformats.org/drawingml/2006/main" prst="roundRect">
            <a:avLst>
              <a:gd name="adj" fmla="val 78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5BEB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12897D-DEC0-4809-8ABE-1E32FB1E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812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45BEB2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45BEB2"/>
                </a:solidFill>
                <a:latin typeface="Avenir Next"/>
                <a:ea typeface="Avenir Next"/>
                <a:cs typeface="Avenir Next"/>
              </a:rPr>
              <a:t>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338C41-F467-4C56-B41B-BD1ED082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MongoDB Atlas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+ Cloudinary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9BD872-A99A-47B9-802A-C164968E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647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Documents + vector index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Files and images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9C352E-BBBC-42FC-9D63-262CDADE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External services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BAA338-9AB6-4D9D-B97C-A965EE40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6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Google Cloud (Gmail API with OAuth 2.0) for signup and password-reset OTP.</a:t>
            </a:r>
          </a:p>
          <a:p xmlns:a="http://schemas.openxmlformats.org/drawingml/2006/main">
            <a:pPr marL="22" indent="-12" algn="l">
              <a:lnSpc>
                <a:spcPct val="106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Groq-led AI moderation with resilient provider fallbacks and human review when needed.</a:t>
            </a:r>
          </a:p>
          <a:p xmlns:a="http://schemas.openxmlformats.org/drawingml/2006/main">
            <a:pPr marL="22" indent="-12" algn="l">
              <a:lnSpc>
                <a:spcPct val="106000"/>
              </a:lnSpc>
              <a:spcAft>
                <a:spcPts val="12"/>
              </a:spcAft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HTTPS / WSS</a:t>
            </a: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 between browser, API and live gateway.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BBA7D-D791-4ED3-BDB7-DEC80B82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38625"/>
            <a:ext cx="4762500" cy="1809750"/>
          </a:xfrm>
          <a:prstGeom xmlns:a="http://schemas.openxmlformats.org/drawingml/2006/main" prst="roundRect">
            <a:avLst>
              <a:gd name="adj" fmla="val 27368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08A1A-9D68-472B-8885-714D68B6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243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025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Cloud deployment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03B4C-1742-473A-82EC-EAFE1EFD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720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Frontend: Vercel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Backend: Vercel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Database and vector search: MongoDB Atlas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File storage: Cloudinary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214506edf4c17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614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CCC24D-57C3-420F-9CFD-780A9CF3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6AA6E-6E8E-4C36-94EF-5D2ABE7B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BD6A3-1C74-47F5-9D78-9F283E3D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58A12-FE97-4273-AAC7-DE085EDC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B08E92-4823-4956-8A5B-915D8D23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3CADC-41D6-4AB8-A33F-73AE1B6C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85659-9540-4CB8-A72D-35E88737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BC180-80BF-4377-A2F2-EC5BCECE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70BDB-7D97-4B88-96AF-AD146979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The data model supports services and 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61CE4-C433-4D7C-9E95-28EF6619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240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7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7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968B9-5048-4F8B-B768-938FB38E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336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MongoDB collections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3D13B-18CE-4B3B-BFF8-DC627FE2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3333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User</a:t>
            </a: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is the authorization hub for most relationships.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Content collections</a:t>
            </a: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share moderation and approval fields.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Embedding + ResourceChunk</a:t>
            </a: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support semantic and passage-level retrieval.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Conversation + Message</a:t>
            </a:r>
            <a:r>
              <a:rPr sz="1575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separate thread membership from message history.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A2971-A20B-4AC6-B11C-282B27B1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1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1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Solid lines show stored references; dashed lines show soft or polymorphic links.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b028904db43a6"/>
          <a:stretch xmlns:a="http://schemas.openxmlformats.org/drawingml/2006/main"/>
        </p:blipFill>
        <p:spPr>
          <a:xfrm xmlns:a="http://schemas.openxmlformats.org/drawingml/2006/main">
            <a:off x="4943018" y="1333500"/>
            <a:ext cx="6115965" cy="509587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9a81c3d244e0b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5372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A748E9-1BAF-41BB-9858-3F208543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E2228-F805-4266-8CA7-938141EE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8A221-4372-4DC8-8080-4B8183A2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0948B-14E7-43CC-AC80-7982DC0F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2F460-A34A-4998-B736-64EF87E8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08494-770A-437B-BE09-97F83E28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A853F-394B-4B86-86DB-669E9D1A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D6805-1853-4072-B8B6-3E8FF47E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2B5B6E-1F50-4D89-B799-CD5DF4EC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The reported tests support the core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198F3-46EE-4C9B-ABFD-B6B88F6F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238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6/6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58121-9D1C-4746-831A-86693619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backend unit tests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C4903-AC9C-44FF-8277-692802E5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09750"/>
            <a:ext cx="0" cy="176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8B441-1503-49A0-87DD-14806938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62125"/>
            <a:ext cx="238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400" b="1" i="0">
                <a:solidFill>
                  <a:srgbClr val="45BEB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45BEB2"/>
                </a:solidFill>
                <a:latin typeface="Arial Rounded MT Bold"/>
                <a:ea typeface="Arial Rounded MT Bold"/>
                <a:cs typeface="Arial Rounded MT Bold"/>
              </a:rPr>
              <a:t>54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68A1C-8A24-4008-90AF-02BCD828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approved resources indexed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with 0 extraction failures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F0C0E-5B00-4383-AC6B-8E2A9284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0" cy="176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7ECFC-2D51-4DE8-B3DA-C72AE700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2125"/>
            <a:ext cx="238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400" b="1" i="0">
                <a:solidFill>
                  <a:srgbClr val="F06483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5400" b="1" i="0">
                <a:solidFill>
                  <a:srgbClr val="F06483"/>
                </a:solidFill>
                <a:latin typeface="Arial Rounded MT Bold"/>
                <a:ea typeface="Arial Rounded MT Bold"/>
                <a:cs typeface="Arial Rounded MT Bold"/>
              </a:rPr>
              <a:t>8 /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BAFA26-9B9F-4F4E-BB83-E7DD0BB9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visible / unauthorized sources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in the authorization 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9C920E-BF00-4141-96D5-30500F29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809750"/>
            <a:ext cx="0" cy="176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8EB6D-8E64-4E27-87C0-A9AC247C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62125"/>
            <a:ext cx="238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050" b="1" i="0">
                <a:solidFill>
                  <a:srgbClr val="E55276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4050" b="1" i="0">
                <a:solidFill>
                  <a:srgbClr val="E55276"/>
                </a:solidFill>
                <a:latin typeface="Arial Rounded MT Bold"/>
                <a:ea typeface="Arial Rounded MT Bold"/>
                <a:cs typeface="Arial Rounded MT Bold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04359A-B387-4017-8593-D77014DC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5750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frontend production 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6B1EFC-C7FD-4D3F-A8DB-C1BB4276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10858500" cy="1485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D5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300250-26D7-4F46-AEA5-3F0972C6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025" b="1" i="0">
                <a:solidFill>
                  <a:srgbClr val="0A7189"/>
                </a:solidFill>
                <a:latin typeface="Arial Rounded MT Bold"/>
                <a:ea typeface="Arial Rounded MT Bold"/>
                <a:cs typeface="Arial Rounded MT Bold"/>
              </a:rPr>
              <a:t>What was verified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ECA8E-39D0-4A74-B0E3-514061B1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OTP and JWT access • five upload formats • fail-safe moderation • events and clubs • private lost-and-found claims • real-time chat • semantic search • admin approvals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00D862-AF38-4926-883F-75BCDDD1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0007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All major feature groups were checked across student, moderator and admin roles.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cd51fa1fad423c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3538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F2C699-FC9B-4032-8AC2-B7C40529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0"/>
            <a:ext cx="9525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E5336-F885-4117-9C64-06979B8D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0"/>
            <a:ext cx="9906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77BE82-E890-41EC-952D-285C4B7C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39BD7-A62A-47BF-B2C4-5DCF1AB8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E8D2E-D33E-410E-896B-62902827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A45C1-6E77-4A62-A601-80FCE127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6410325"/>
            <a:ext cx="6858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27AFE-7302-446F-B981-A36E00BF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41B7F4-E295-43E4-9206-7B181B46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86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A3EAD-8DD2-4F38-9C69-27EFB1A4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30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CRH is ready for a department-scale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735517-35D4-42C4-86D3-61C80905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95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4950" b="1" i="0">
                <a:solidFill>
                  <a:srgbClr val="118CA5"/>
                </a:solidFill>
                <a:latin typeface="Arial Rounded MT Bold"/>
                <a:ea typeface="Arial Rounded MT Bold"/>
                <a:cs typeface="Arial Rounded MT Bold"/>
              </a:rPr>
              <a:t>50–100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03A225-1EA0-466B-869A-BFE20350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concurrent active users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0271C-0D1D-46A2-8E28-B6372C2E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A994A-93F1-4C34-8A17-CD74438B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 i="0">
                <a:solidFill>
                  <a:srgbClr val="F06483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4050" b="1" i="0">
                <a:solidFill>
                  <a:srgbClr val="F06483"/>
                </a:solidFill>
                <a:latin typeface="Arial Rounded MT Bold"/>
                <a:ea typeface="Arial Rounded MT Bold"/>
                <a:cs typeface="Arial Rounded MT Bold"/>
              </a:rPr>
              <a:t>200–300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6384C-EE24-42E8-9847-554806EF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connected users including idle sessions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FBED1A-0FAB-4E84-8DFA-210CA4F2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3875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8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CBC5-6C4B-46E6-8D9D-DBFEECD9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 i="0">
                <a:solidFill>
                  <a:srgbClr val="45BEB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4650" b="1" i="0">
                <a:solidFill>
                  <a:srgbClr val="45BEB2"/>
                </a:solidFill>
                <a:latin typeface="Arial Rounded MT Bold"/>
                <a:ea typeface="Arial Rounded MT Bold"/>
                <a:cs typeface="Arial Rounded MT Bold"/>
              </a:rPr>
              <a:t>$0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536058-2501-4D25-9A07-B74831AC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current recurring cost on free cloud tiers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CE13B-9C54-495E-83FA-43091AE1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2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Next improvements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BE147F-F46C-4198-8B8E-86024D8E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7625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Background job queue</a:t>
            </a: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for AI scans and embeddings.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Mobile app + push notifications</a:t>
            </a: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for wider daily use.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University SSO, Bangla and accessibility</a:t>
            </a: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for inclusive adoption.</a:t>
            </a:r>
          </a:p>
          <a:p xmlns:a="http://schemas.openxmlformats.org/drawingml/2006/main">
            <a:pPr marL="22" indent="-12" algn="l">
              <a:lnSpc>
                <a:spcPct val="108000"/>
              </a:lnSpc>
              <a:spcAft>
                <a:spcPts val="12"/>
              </a:spcAft>
              <a:buNone/>
              <a:def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Paid compute and database tiers</a:t>
            </a:r>
            <a:r>
              <a:rPr sz="1650" b="0" i="0">
                <a:solidFill>
                  <a:srgbClr val="173F50"/>
                </a:solidFill>
                <a:latin typeface="Avenir Next"/>
                <a:ea typeface="Avenir Next"/>
                <a:cs typeface="Avenir Next"/>
              </a:rPr>
              <a:t> for 500+ active users.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382536-3DE7-42EF-91D3-4FA402D2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14900"/>
            <a:ext cx="48577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D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8F7CB2-CBFD-4079-A8A8-0E9528A2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10150"/>
            <a:ext cx="4438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E55276"/>
                </a:solidFill>
                <a:latin typeface="Avenir Next"/>
                <a:ea typeface="Avenir Next"/>
                <a:cs typeface="Avenir Next"/>
              </a:rPr>
              <a:t>Main current bottleneck: upload-time AI scanning and embedding work on free CPU.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2812B0-7345-447E-B5C5-6F7F3631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91200"/>
            <a:ext cx="111252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D00C21-BB57-4E82-9F05-629917DD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62650"/>
            <a:ext cx="1055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 i="0">
                <a:solidFill>
                  <a:srgbClr val="103E55"/>
                </a:solidFill>
                <a:latin typeface="Avenir Next"/>
                <a:ea typeface="Avenir Next"/>
                <a:cs typeface="Avenir Next"/>
              </a:rPr>
              <a:t>Student-built. Full-stack. Real-time. AI-assisted. Designed for everyday campus use.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40774d9a1479a"/>
          <a:stretch xmlns:a="http://schemas.openxmlformats.org/drawingml/2006/main"/>
        </p:blipFill>
        <p:spPr>
          <a:xfrm xmlns:a="http://schemas.openxmlformats.org/drawingml/2006/main">
            <a:off x="95250" y="77862"/>
            <a:ext cx="342900" cy="4062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6018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F25C3B-93A1-4626-A94F-CDBFA09A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0"/>
            <a:ext cx="11430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8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9A839-EA08-41BE-9AB3-3DC2B109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66800" cy="1028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D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65002-9FBF-41BA-98A6-C8A79AD0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59BCA-B3CC-4502-8990-03BCFFD9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95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D0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a7a2eba0a43ea"/>
          <a:stretch xmlns:a="http://schemas.openxmlformats.org/drawingml/2006/main"/>
        </p:blipFill>
        <p:spPr>
          <a:xfrm xmlns:a="http://schemas.openxmlformats.org/drawingml/2006/main">
            <a:off x="10725150" y="327174"/>
            <a:ext cx="685800" cy="81250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B7A3A-B4B0-418E-8C47-7640307E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66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0A7189"/>
                </a:solidFill>
                <a:latin typeface="Avenir Next"/>
                <a:ea typeface="Avenir Next"/>
                <a:cs typeface="Avenir Next"/>
              </a:rPr>
              <a:t>CAMPUS RESOURCE HUB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537F4-87E4-45BA-8C96-B3C9C138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6572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6150" b="1" i="0">
                <a:solidFill>
                  <a:srgbClr val="103E55"/>
                </a:solidFill>
                <a:latin typeface="Arial Rounded MT Bold"/>
                <a:ea typeface="Arial Rounded MT Bold"/>
                <a:cs typeface="Arial Rounded MT Bold"/>
              </a:rPr>
              <a:t>Thank you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5C950-3CE6-4034-BEDD-2EF5FDD5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2910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A student-built platform for secure resources, campus services and real-time communication.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9F69E-DD4B-42DE-9708-CB4139FC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33550"/>
            <a:ext cx="2781300" cy="2781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26C18-1BD5-4E07-9322-B84044EE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385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F8FA9-32C9-4CD4-9F1D-2F628926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f4c0ae5c04e90"/>
          <a:stretch xmlns:a="http://schemas.openxmlformats.org/drawingml/2006/main"/>
        </p:blipFill>
        <p:spPr>
          <a:xfrm xmlns:a="http://schemas.openxmlformats.org/drawingml/2006/main">
            <a:off x="9163050" y="253365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1549D-AC22-4C9F-BBB6-CA8ABF04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9245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Department of Computer Science &amp; Engineering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496878"/>
                </a:solidFill>
                <a:latin typeface="Avenir Next"/>
                <a:ea typeface="Avenir Next"/>
                <a:cs typeface="Avenir Next"/>
              </a:rPr>
              <a:t>Northern University Bangladesh</a:t>
            </a:r>
          </a:p>
        </p:txBody>
      </p:sp>
    </p:spTree>
    <p:extLst>
      <p:ext uri="{BB962C8B-B14F-4D97-AF65-F5344CB8AC3E}">
        <p14:creationId xmlns:p14="http://schemas.microsoft.com/office/powerpoint/2010/main" val="10515060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2026-08-23T06:48:49.3000000Z</dcterms:created>
  <dcterms:modified xsi:type="dcterms:W3CDTF">2026-08-23T06:48:49.3000000Z</dcterms:modified>
</coreProperties>
</file>